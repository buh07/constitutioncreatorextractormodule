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charts/chart1.xml" ContentType="application/vnd.openxmlformats-officedocument.drawingml.chart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charts/chart2.xml" ContentType="application/vnd.openxmlformats-officedocument.drawingml.chart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</p:sldIdLst>
  <p:notesMasterIdLst>
    <p:notesMasterId r:id="rId4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notesMaster" Target="notesMasters/notesMaster1.xml"/><Relationship Id="rId48" Type="http://schemas.openxmlformats.org/officeDocument/2006/relationships/presProps" Target="presProps.xml"/><Relationship Id="rId49" Type="http://schemas.openxmlformats.org/officeDocument/2006/relationships/viewProps" Target="viewProps.xml"/><Relationship Id="rId50" Type="http://schemas.openxmlformats.org/officeDocument/2006/relationships/theme" Target="theme/theme1.xml"/><Relationship Id="rId51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F1 Score</c:v>
                </c:pt>
              </c:strCache>
            </c:strRef>
          </c:tx>
          <c:spPr>
            <a:solidFill>
              <a:srgbClr val="1C7293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A1A2E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Rule-based</c:v>
                  </c:pt>
                  <c:pt idx="1">
                    <c:v>GPT-4o
zero-shot</c:v>
                  </c:pt>
                  <c:pt idx="2">
                    <c:v>GPT-4o +
JSON schema</c:v>
                  </c:pt>
                  <c:pt idx="3">
                    <c:v>Ours
(multi-pass)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62.1</c:v>
                </c:pt>
                <c:pt idx="1">
                  <c:v>79.8</c:v>
                </c:pt>
                <c:pt idx="2">
                  <c:v>83.4</c:v>
                </c:pt>
                <c:pt idx="3">
                  <c:v>87.3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1A1A2E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2D3748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0"/>
          <c:min val="0"/>
        </c:scaling>
        <c:delete val="0"/>
        <c:axPos val="l"/>
        <c:majorGridlines>
          <c:spPr>
            <a:ln w="6350" cap="flat">
              <a:solidFill>
                <a:srgbClr val="E8ECF1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2D374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F1 Score</c:v>
                </c:pt>
              </c:strCache>
            </c:strRef>
          </c:tx>
          <c:spPr>
            <a:solidFill>
              <a:srgbClr val="065A82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A1A2E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Keyword
overlap</c:v>
                  </c:pt>
                  <c:pt idx="1">
                    <c:v>Semantic
similarity</c:v>
                  </c:pt>
                  <c:pt idx="2">
                    <c:v>SMT only
(Z3)</c:v>
                  </c:pt>
                  <c:pt idx="3">
                    <c:v>LLM
zero-shot</c:v>
                  </c:pt>
                  <c:pt idx="4">
                    <c:v>Ours
(hybrid)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52.3</c:v>
                </c:pt>
                <c:pt idx="1">
                  <c:v>71.2</c:v>
                </c:pt>
                <c:pt idx="2">
                  <c:v>68.7</c:v>
                </c:pt>
                <c:pt idx="3">
                  <c:v>70.9</c:v>
                </c:pt>
                <c:pt idx="4">
                  <c:v>82.4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1A1A2E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2D3748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0"/>
          <c:min val="0"/>
        </c:scaling>
        <c:delete val="0"/>
        <c:axPos val="l"/>
        <c:majorGridlines>
          <c:spPr>
            <a:ln w="6350" cap="flat">
              <a:solidFill>
                <a:srgbClr val="E8ECF1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2D374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image" Target="../media/image-2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image" Target="../media/image-23-2.png"/><Relationship Id="rId3" Type="http://schemas.openxmlformats.org/officeDocument/2006/relationships/image" Target="../media/image-2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4-1.png"/><Relationship Id="rId2" Type="http://schemas.openxmlformats.org/officeDocument/2006/relationships/image" Target="../media/image-3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4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937760"/>
            <a:ext cx="9144000" cy="205740"/>
          </a:xfrm>
          <a:prstGeom prst="rect">
            <a:avLst/>
          </a:prstGeom>
          <a:solidFill>
            <a:srgbClr val="1C7293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731520"/>
            <a:ext cx="640080" cy="64008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40080" y="1463040"/>
            <a:ext cx="7772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Beyond Guardrails</a:t>
            </a:r>
            <a:endParaRPr lang="en-US" sz="4000" dirty="0"/>
          </a:p>
        </p:txBody>
      </p:sp>
      <p:sp>
        <p:nvSpPr>
          <p:cNvPr id="6" name="Text 3"/>
          <p:cNvSpPr/>
          <p:nvPr/>
        </p:nvSpPr>
        <p:spPr>
          <a:xfrm>
            <a:off x="640080" y="2377440"/>
            <a:ext cx="7772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Automating Enterprise Policy Compliance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Production LLM Systems</a:t>
            </a:r>
            <a:endParaRPr lang="en-US" sz="2000" dirty="0"/>
          </a:p>
        </p:txBody>
      </p:sp>
      <p:sp>
        <p:nvSpPr>
          <p:cNvPr id="7" name="Text 4"/>
          <p:cNvSpPr/>
          <p:nvPr/>
        </p:nvSpPr>
        <p:spPr>
          <a:xfrm>
            <a:off x="640080" y="347472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PolicyLLM — Paper Deep Dive &amp; Future Work Plan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6400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Presentation Overview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8229600" cy="62179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371600"/>
            <a:ext cx="502920" cy="621792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371600"/>
            <a:ext cx="5029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60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7280" y="1499616"/>
            <a:ext cx="347472" cy="34747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554480" y="1408176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&amp; Motivation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1554480" y="1682496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does enterprise LLM policy compliance matter?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457200" y="2084832"/>
            <a:ext cx="8229600" cy="621792"/>
          </a:xfrm>
          <a:prstGeom prst="rect">
            <a:avLst/>
          </a:prstGeom>
          <a:solidFill>
            <a:srgbClr val="F7FAFC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57200" y="2084832"/>
            <a:ext cx="502920" cy="621792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12" name="Text 9"/>
          <p:cNvSpPr/>
          <p:nvPr/>
        </p:nvSpPr>
        <p:spPr>
          <a:xfrm>
            <a:off x="457200" y="2084832"/>
            <a:ext cx="5029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600" dirty="0"/>
          </a:p>
        </p:txBody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2212848"/>
            <a:ext cx="347472" cy="347472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1554480" y="2121408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Limitations of Current Approaches</a:t>
            </a:r>
            <a:endParaRPr lang="en-US" sz="1400" dirty="0"/>
          </a:p>
        </p:txBody>
      </p:sp>
      <p:sp>
        <p:nvSpPr>
          <p:cNvPr id="15" name="Text 11"/>
          <p:cNvSpPr/>
          <p:nvPr/>
        </p:nvSpPr>
        <p:spPr>
          <a:xfrm>
            <a:off x="1554480" y="2395728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existing systems fail to solve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457200" y="2798064"/>
            <a:ext cx="8229600" cy="62179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457200" y="2798064"/>
            <a:ext cx="502920" cy="621792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18" name="Text 14"/>
          <p:cNvSpPr/>
          <p:nvPr/>
        </p:nvSpPr>
        <p:spPr>
          <a:xfrm>
            <a:off x="457200" y="2798064"/>
            <a:ext cx="5029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600" dirty="0"/>
          </a:p>
        </p:txBody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7280" y="2926080"/>
            <a:ext cx="347472" cy="347472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1554480" y="2834640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PolicyLLM System Design</a:t>
            </a:r>
            <a:endParaRPr lang="en-US" sz="1400" dirty="0"/>
          </a:p>
        </p:txBody>
      </p:sp>
      <p:sp>
        <p:nvSpPr>
          <p:cNvPr id="21" name="Text 16"/>
          <p:cNvSpPr/>
          <p:nvPr/>
        </p:nvSpPr>
        <p:spPr>
          <a:xfrm>
            <a:off x="1554480" y="3108960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Detailed architecture of 5 modules and their connections</a:t>
            </a:r>
            <a:endParaRPr lang="en-US" sz="1100" dirty="0"/>
          </a:p>
        </p:txBody>
      </p:sp>
      <p:sp>
        <p:nvSpPr>
          <p:cNvPr id="22" name="Shape 17"/>
          <p:cNvSpPr/>
          <p:nvPr/>
        </p:nvSpPr>
        <p:spPr>
          <a:xfrm>
            <a:off x="457200" y="3511296"/>
            <a:ext cx="8229600" cy="621792"/>
          </a:xfrm>
          <a:prstGeom prst="rect">
            <a:avLst/>
          </a:prstGeom>
          <a:solidFill>
            <a:srgbClr val="F7FAFC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23" name="Shape 18"/>
          <p:cNvSpPr/>
          <p:nvPr/>
        </p:nvSpPr>
        <p:spPr>
          <a:xfrm>
            <a:off x="457200" y="3511296"/>
            <a:ext cx="502920" cy="621792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24" name="Text 19"/>
          <p:cNvSpPr/>
          <p:nvPr/>
        </p:nvSpPr>
        <p:spPr>
          <a:xfrm>
            <a:off x="457200" y="3511296"/>
            <a:ext cx="5029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1600" dirty="0"/>
          </a:p>
        </p:txBody>
      </p:sp>
      <p:pic>
        <p:nvPicPr>
          <p:cNvPr id="2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97280" y="3639312"/>
            <a:ext cx="347472" cy="347472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1554480" y="3547872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Experiments &amp; Results</a:t>
            </a:r>
            <a:endParaRPr lang="en-US" sz="1400" dirty="0"/>
          </a:p>
        </p:txBody>
      </p:sp>
      <p:sp>
        <p:nvSpPr>
          <p:cNvPr id="27" name="Text 21"/>
          <p:cNvSpPr/>
          <p:nvPr/>
        </p:nvSpPr>
        <p:spPr>
          <a:xfrm>
            <a:off x="1554480" y="3822192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Benchmark, baselines, and performance analysis</a:t>
            </a:r>
            <a:endParaRPr lang="en-US" sz="1100" dirty="0"/>
          </a:p>
        </p:txBody>
      </p:sp>
      <p:sp>
        <p:nvSpPr>
          <p:cNvPr id="28" name="Shape 22"/>
          <p:cNvSpPr/>
          <p:nvPr/>
        </p:nvSpPr>
        <p:spPr>
          <a:xfrm>
            <a:off x="457200" y="4224528"/>
            <a:ext cx="8229600" cy="62179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29" name="Shape 23"/>
          <p:cNvSpPr/>
          <p:nvPr/>
        </p:nvSpPr>
        <p:spPr>
          <a:xfrm>
            <a:off x="457200" y="4224528"/>
            <a:ext cx="502920" cy="621792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30" name="Text 24"/>
          <p:cNvSpPr/>
          <p:nvPr/>
        </p:nvSpPr>
        <p:spPr>
          <a:xfrm>
            <a:off x="457200" y="4224528"/>
            <a:ext cx="5029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1600" dirty="0"/>
          </a:p>
        </p:txBody>
      </p:sp>
      <p:pic>
        <p:nvPicPr>
          <p:cNvPr id="3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97280" y="4352544"/>
            <a:ext cx="347472" cy="347472"/>
          </a:xfrm>
          <a:prstGeom prst="rect">
            <a:avLst/>
          </a:prstGeom>
        </p:spPr>
      </p:pic>
      <p:sp>
        <p:nvSpPr>
          <p:cNvPr id="32" name="Text 25"/>
          <p:cNvSpPr/>
          <p:nvPr/>
        </p:nvSpPr>
        <p:spPr>
          <a:xfrm>
            <a:off x="1554480" y="4261104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Work &amp; Team Division</a:t>
            </a:r>
            <a:endParaRPr lang="en-US" sz="1400" dirty="0"/>
          </a:p>
        </p:txBody>
      </p:sp>
      <p:sp>
        <p:nvSpPr>
          <p:cNvPr id="33" name="Text 26"/>
          <p:cNvSpPr/>
          <p:nvPr/>
        </p:nvSpPr>
        <p:spPr>
          <a:xfrm>
            <a:off x="1554480" y="4535424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Remaining tasks and role assignment plan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371600"/>
            <a:ext cx="77724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Part 1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731520" y="2743200"/>
            <a:ext cx="7772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&amp; Motivation</a:t>
            </a:r>
            <a:endParaRPr lang="en-US" sz="16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0" y="1645920"/>
            <a:ext cx="731520" cy="73152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228600"/>
            <a:ext cx="1645920" cy="292608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228600"/>
            <a:ext cx="1645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MOTIVATION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6400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Real-World Cases: The Cost of LLM Policy Violations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457200" y="1325880"/>
            <a:ext cx="8229600" cy="1188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57200" y="1325880"/>
            <a:ext cx="54864" cy="1188720"/>
          </a:xfrm>
          <a:prstGeom prst="rect">
            <a:avLst/>
          </a:prstGeom>
          <a:solidFill>
            <a:srgbClr val="E63946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417320"/>
            <a:ext cx="365760" cy="36576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097280" y="137160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Air Canada Ruling (Feb 2024)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1097280" y="1719072"/>
            <a:ext cx="7406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Chatbot fabricated a non-existent bereavement fare policy. Canadian tribunal ruled: "It makes no difference whether the information comes from a static page or a chatbot." Organizations bear full responsibility for AI-generated misinformation.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457200" y="2743200"/>
            <a:ext cx="1920240" cy="1188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457200" y="2816352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E6394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€35M / 7%</a:t>
            </a:r>
            <a:endParaRPr lang="en-US" sz="2200" dirty="0"/>
          </a:p>
        </p:txBody>
      </p:sp>
      <p:sp>
        <p:nvSpPr>
          <p:cNvPr id="13" name="Text 10"/>
          <p:cNvSpPr/>
          <p:nvPr/>
        </p:nvSpPr>
        <p:spPr>
          <a:xfrm>
            <a:off x="457200" y="333756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EU AI Act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 Fine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2560320" y="2743200"/>
            <a:ext cx="1920240" cy="1188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5" name="Text 12"/>
          <p:cNvSpPr/>
          <p:nvPr/>
        </p:nvSpPr>
        <p:spPr>
          <a:xfrm>
            <a:off x="2560320" y="2816352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E6394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$14.82M</a:t>
            </a:r>
            <a:endParaRPr lang="en-US" sz="2200" dirty="0"/>
          </a:p>
        </p:txBody>
      </p:sp>
      <p:sp>
        <p:nvSpPr>
          <p:cNvPr id="16" name="Text 13"/>
          <p:cNvSpPr/>
          <p:nvPr/>
        </p:nvSpPr>
        <p:spPr>
          <a:xfrm>
            <a:off x="2560320" y="333756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Avg. Cost of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Non-Compliance</a:t>
            </a:r>
            <a:endParaRPr lang="en-US" sz="1000" dirty="0"/>
          </a:p>
        </p:txBody>
      </p:sp>
      <p:sp>
        <p:nvSpPr>
          <p:cNvPr id="17" name="Shape 14"/>
          <p:cNvSpPr/>
          <p:nvPr/>
        </p:nvSpPr>
        <p:spPr>
          <a:xfrm>
            <a:off x="4663440" y="2743200"/>
            <a:ext cx="1920240" cy="1188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8" name="Text 15"/>
          <p:cNvSpPr/>
          <p:nvPr/>
        </p:nvSpPr>
        <p:spPr>
          <a:xfrm>
            <a:off x="4663440" y="2816352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4A2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$4.5B</a:t>
            </a:r>
            <a:endParaRPr lang="en-US" sz="2200" dirty="0"/>
          </a:p>
        </p:txBody>
      </p:sp>
      <p:sp>
        <p:nvSpPr>
          <p:cNvPr id="19" name="Text 16"/>
          <p:cNvSpPr/>
          <p:nvPr/>
        </p:nvSpPr>
        <p:spPr>
          <a:xfrm>
            <a:off x="4663440" y="333756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2024 Banking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Compliance Fines</a:t>
            </a:r>
            <a:endParaRPr lang="en-US" sz="1000" dirty="0"/>
          </a:p>
        </p:txBody>
      </p:sp>
      <p:sp>
        <p:nvSpPr>
          <p:cNvPr id="20" name="Shape 17"/>
          <p:cNvSpPr/>
          <p:nvPr/>
        </p:nvSpPr>
        <p:spPr>
          <a:xfrm>
            <a:off x="6766560" y="2743200"/>
            <a:ext cx="1920240" cy="1188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21" name="Text 18"/>
          <p:cNvSpPr/>
          <p:nvPr/>
        </p:nvSpPr>
        <p:spPr>
          <a:xfrm>
            <a:off x="6766560" y="2816352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65A8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2.71×</a:t>
            </a:r>
            <a:endParaRPr lang="en-US" sz="2200" dirty="0"/>
          </a:p>
        </p:txBody>
      </p:sp>
      <p:sp>
        <p:nvSpPr>
          <p:cNvPr id="22" name="Text 19"/>
          <p:cNvSpPr/>
          <p:nvPr/>
        </p:nvSpPr>
        <p:spPr>
          <a:xfrm>
            <a:off x="6766560" y="333756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Non-Compliance vs.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Compliance Cost</a:t>
            </a:r>
            <a:endParaRPr lang="en-US" sz="1000" dirty="0"/>
          </a:p>
        </p:txBody>
      </p:sp>
      <p:sp>
        <p:nvSpPr>
          <p:cNvPr id="23" name="Text 20"/>
          <p:cNvSpPr/>
          <p:nvPr/>
        </p:nvSpPr>
        <p:spPr>
          <a:xfrm>
            <a:off x="457200" y="42062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i="1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takeaway: Organizations bear legal liability for LLM outputs, and regulatory fines are escalating rapidly.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228600"/>
            <a:ext cx="1645920" cy="292608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228600"/>
            <a:ext cx="1645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MOTIVATION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6400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Three Current Approaches &amp; Their Limitations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20040" y="1325880"/>
            <a:ext cx="2743200" cy="3474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20040" y="1325880"/>
            <a:ext cx="2743200" cy="41148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8" name="Text 6"/>
          <p:cNvSpPr/>
          <p:nvPr/>
        </p:nvSpPr>
        <p:spPr>
          <a:xfrm>
            <a:off x="320040" y="132588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Deterministic Systems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57200" y="1874520"/>
            <a:ext cx="24688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Ex: Bank of America Erica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700+ pre-approved responses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3B interactions, 98% resolution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594360" y="3200400"/>
            <a:ext cx="2194560" cy="18288"/>
          </a:xfrm>
          <a:prstGeom prst="rect">
            <a:avLst/>
          </a:prstGeom>
          <a:solidFill>
            <a:srgbClr val="E8ECF1"/>
          </a:solidFill>
          <a:ln/>
        </p:spPr>
      </p:sp>
      <p:sp>
        <p:nvSpPr>
          <p:cNvPr id="11" name="Text 9"/>
          <p:cNvSpPr/>
          <p:nvPr/>
        </p:nvSpPr>
        <p:spPr>
          <a:xfrm>
            <a:off x="457200" y="3291840"/>
            <a:ext cx="24688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Limitation: Cannot scale to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dynamic policy environments.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responses must be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pre-defined.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3200400" y="1325880"/>
            <a:ext cx="2743200" cy="3474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200400" y="1325880"/>
            <a:ext cx="2743200" cy="41148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14" name="Text 12"/>
          <p:cNvSpPr/>
          <p:nvPr/>
        </p:nvSpPr>
        <p:spPr>
          <a:xfrm>
            <a:off x="3200400" y="132588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Orchestration Layers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3337560" y="1874520"/>
            <a:ext cx="24688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Ex: Wells Fargo "Fargo"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Privacy-first: no PII reaches LLM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Dedicated architecture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3474720" y="3200400"/>
            <a:ext cx="2194560" cy="18288"/>
          </a:xfrm>
          <a:prstGeom prst="rect">
            <a:avLst/>
          </a:prstGeom>
          <a:solidFill>
            <a:srgbClr val="E8ECF1"/>
          </a:solidFill>
          <a:ln/>
        </p:spPr>
      </p:sp>
      <p:sp>
        <p:nvSpPr>
          <p:cNvPr id="17" name="Text 15"/>
          <p:cNvSpPr/>
          <p:nvPr/>
        </p:nvSpPr>
        <p:spPr>
          <a:xfrm>
            <a:off x="3337560" y="3291840"/>
            <a:ext cx="24688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Limitation: Requires massive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engineering investment.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organizations cannot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replicate this.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6080760" y="1325880"/>
            <a:ext cx="2743200" cy="3474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080760" y="1325880"/>
            <a:ext cx="2743200" cy="411480"/>
          </a:xfrm>
          <a:prstGeom prst="rect">
            <a:avLst/>
          </a:prstGeom>
          <a:solidFill>
            <a:srgbClr val="E63946"/>
          </a:solidFill>
          <a:ln/>
        </p:spPr>
      </p:sp>
      <p:sp>
        <p:nvSpPr>
          <p:cNvPr id="20" name="Text 18"/>
          <p:cNvSpPr/>
          <p:nvPr/>
        </p:nvSpPr>
        <p:spPr>
          <a:xfrm>
            <a:off x="6080760" y="132588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Guardrails Systems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6217920" y="1874520"/>
            <a:ext cx="24688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Ex: NeMo, Llama Guard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Programmable safety via Colang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Runtime protection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6355080" y="3200400"/>
            <a:ext cx="2194560" cy="18288"/>
          </a:xfrm>
          <a:prstGeom prst="rect">
            <a:avLst/>
          </a:prstGeom>
          <a:solidFill>
            <a:srgbClr val="E8ECF1"/>
          </a:solidFill>
          <a:ln/>
        </p:spPr>
      </p:sp>
      <p:sp>
        <p:nvSpPr>
          <p:cNvPr id="23" name="Text 21"/>
          <p:cNvSpPr/>
          <p:nvPr/>
        </p:nvSpPr>
        <p:spPr>
          <a:xfrm>
            <a:off x="6217920" y="3291840"/>
            <a:ext cx="24688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Limitation: Manual rule creation.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127 policies = ~40 person-hours.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NeMo: 81% detection vs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98.7% for trained classifiers.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228600"/>
            <a:ext cx="1645920" cy="292608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228600"/>
            <a:ext cx="1645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MOTIVATION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6400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Shared Gap: What None of Them Solve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457200" y="1371600"/>
            <a:ext cx="8229600" cy="10972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57200" y="1371600"/>
            <a:ext cx="54864" cy="1097280"/>
          </a:xfrm>
          <a:prstGeom prst="rect">
            <a:avLst/>
          </a:prstGeom>
          <a:solidFill>
            <a:srgbClr val="E63946"/>
          </a:solidFill>
          <a:ln/>
        </p:spPr>
      </p:sp>
      <p:sp>
        <p:nvSpPr>
          <p:cNvPr id="8" name="Text 6"/>
          <p:cNvSpPr/>
          <p:nvPr/>
        </p:nvSpPr>
        <p:spPr>
          <a:xfrm>
            <a:off x="685800" y="141732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three approaches assume manual policy definition.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685800" y="178308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None automatically extract policies from documents, detect conflicts between policies, or coordinate enforcement across multiple layers.</a:t>
            </a:r>
            <a:endParaRPr lang="en-US" sz="12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371600" y="2651760"/>
          <a:ext cx="6400800" cy="2286000"/>
        </p:xfrm>
        <a:graphic>
          <a:graphicData uri="http://schemas.openxmlformats.org/drawingml/2006/table">
            <a:tbl>
              <a:tblPr/>
              <a:tblGrid>
                <a:gridCol w="1645920"/>
                <a:gridCol w="914400"/>
                <a:gridCol w="914400"/>
                <a:gridCol w="914400"/>
                <a:gridCol w="914400"/>
              </a:tblGrid>
              <a:tr h="326571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System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Auto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Extract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Conflict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Detect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Multi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Layer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Meta-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</a:tr>
              <a:tr h="326571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NeMo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C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C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D9F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C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6571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Llama Guard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C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C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C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C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  <a:tr h="326571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AWS Bedrock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C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C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D9F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Partial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6571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Lakera Guard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C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C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D9F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C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  <a:tr h="326571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WildGuard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C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C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C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C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6571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PolicyLLM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</a:tr>
            </a:tbl>
          </a:graphicData>
        </a:graphic>
      </p:graphicFrame>
      <p:sp>
        <p:nvSpPr>
          <p:cNvPr id="11" name="Text 8"/>
          <p:cNvSpPr/>
          <p:nvPr/>
        </p:nvSpPr>
        <p:spPr>
          <a:xfrm>
            <a:off x="1828800" y="466344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D9F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PolicyLLM automates all four capabilities.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228600"/>
            <a:ext cx="1645920" cy="292608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228600"/>
            <a:ext cx="1645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OVERVIEW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6400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PolicyLLM: Four Key Contributions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457200" y="1325880"/>
            <a:ext cx="8229600" cy="80467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57200" y="1325880"/>
            <a:ext cx="54864" cy="804672"/>
          </a:xfrm>
          <a:prstGeom prst="rect">
            <a:avLst/>
          </a:prstGeom>
          <a:solidFill>
            <a:srgbClr val="065A82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508760"/>
            <a:ext cx="365760" cy="36576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143000" y="13716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 Automated Policy Extraction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1143000" y="1673352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Documents → Structured policies + governance metadata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Multi-pass LLM pipeline extracts scope, conditions, actions, exceptions automatically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457200" y="2240280"/>
            <a:ext cx="8229600" cy="80467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457200" y="2240280"/>
            <a:ext cx="54864" cy="804672"/>
          </a:xfrm>
          <a:prstGeom prst="rect">
            <a:avLst/>
          </a:prstGeom>
          <a:solidFill>
            <a:srgbClr val="1C7293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2423160"/>
            <a:ext cx="365760" cy="36576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1143000" y="22860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 Hybrid Conflict Detection</a:t>
            </a:r>
            <a:endParaRPr lang="en-US" sz="1300" dirty="0"/>
          </a:p>
        </p:txBody>
      </p:sp>
      <p:sp>
        <p:nvSpPr>
          <p:cNvPr id="15" name="Text 11"/>
          <p:cNvSpPr/>
          <p:nvPr/>
        </p:nvSpPr>
        <p:spPr>
          <a:xfrm>
            <a:off x="1143000" y="2587752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SMT (Z3) logical verification + LLM semantic analysis combined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LLM+Z3: F1=94.8% vs LLM-only 69.1% (prior work)</a:t>
            </a:r>
            <a:endParaRPr lang="en-US" sz="1050" dirty="0"/>
          </a:p>
        </p:txBody>
      </p:sp>
      <p:sp>
        <p:nvSpPr>
          <p:cNvPr id="16" name="Shape 12"/>
          <p:cNvSpPr/>
          <p:nvPr/>
        </p:nvSpPr>
        <p:spPr>
          <a:xfrm>
            <a:off x="457200" y="3154680"/>
            <a:ext cx="8229600" cy="80467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457200" y="3154680"/>
            <a:ext cx="54864" cy="804672"/>
          </a:xfrm>
          <a:prstGeom prst="rect">
            <a:avLst/>
          </a:prstGeom>
          <a:solidFill>
            <a:srgbClr val="065A82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3337560"/>
            <a:ext cx="365760" cy="365760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1143000" y="32004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 Multi-Layer Enforcement</a:t>
            </a:r>
            <a:endParaRPr lang="en-US" sz="1300" dirty="0"/>
          </a:p>
        </p:txBody>
      </p:sp>
      <p:sp>
        <p:nvSpPr>
          <p:cNvPr id="20" name="Text 15"/>
          <p:cNvSpPr/>
          <p:nvPr/>
        </p:nvSpPr>
        <p:spPr>
          <a:xfrm>
            <a:off x="1143000" y="3502152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Policies distributed across Fine-tuning, System Prompt, RAG, Guardrails by characteristics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Defense-in-depth architecture</a:t>
            </a:r>
            <a:endParaRPr lang="en-US" sz="1050" dirty="0"/>
          </a:p>
        </p:txBody>
      </p:sp>
      <p:sp>
        <p:nvSpPr>
          <p:cNvPr id="21" name="Shape 16"/>
          <p:cNvSpPr/>
          <p:nvPr/>
        </p:nvSpPr>
        <p:spPr>
          <a:xfrm>
            <a:off x="457200" y="4069080"/>
            <a:ext cx="8229600" cy="80467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22" name="Shape 17"/>
          <p:cNvSpPr/>
          <p:nvPr/>
        </p:nvSpPr>
        <p:spPr>
          <a:xfrm>
            <a:off x="457200" y="4069080"/>
            <a:ext cx="54864" cy="804672"/>
          </a:xfrm>
          <a:prstGeom prst="rect">
            <a:avLst/>
          </a:prstGeom>
          <a:solidFill>
            <a:srgbClr val="1C7293"/>
          </a:solidFill>
          <a:ln/>
        </p:spPr>
      </p:sp>
      <p:pic>
        <p:nvPicPr>
          <p:cNvPr id="2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" y="4251960"/>
            <a:ext cx="365760" cy="365760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1143000" y="4114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 PolicyCompliance-Enterprise Benchmark</a:t>
            </a:r>
            <a:endParaRPr lang="en-US" sz="1300" dirty="0"/>
          </a:p>
        </p:txBody>
      </p:sp>
      <p:sp>
        <p:nvSpPr>
          <p:cNvPr id="25" name="Text 19"/>
          <p:cNvSpPr/>
          <p:nvPr/>
        </p:nvSpPr>
        <p:spPr>
          <a:xfrm>
            <a:off x="1143000" y="4416552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company policies + DecisionsDev corpus combined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Supports both explicit and implicit policy evaluation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228600"/>
            <a:ext cx="1645920" cy="292608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228600"/>
            <a:ext cx="1645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6400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System Architecture Overview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457200" y="1280160"/>
            <a:ext cx="8229600" cy="1828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57200" y="1280160"/>
            <a:ext cx="8229600" cy="36576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12801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1: Offline (Policy Preparation)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40080" y="1828800"/>
            <a:ext cx="1463040" cy="640080"/>
          </a:xfrm>
          <a:prstGeom prst="rect">
            <a:avLst/>
          </a:prstGeom>
          <a:solidFill>
            <a:srgbClr val="E8ECF1"/>
          </a:solidFill>
          <a:ln/>
        </p:spPr>
      </p:sp>
      <p:sp>
        <p:nvSpPr>
          <p:cNvPr id="10" name="Text 8"/>
          <p:cNvSpPr/>
          <p:nvPr/>
        </p:nvSpPr>
        <p:spPr>
          <a:xfrm>
            <a:off x="640080" y="1828800"/>
            <a:ext cx="1463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Documents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640080" y="2240280"/>
            <a:ext cx="1463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2057400" y="1920240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65A82"/>
                </a:solidFill>
              </a:rPr>
              <a:t>→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2286000" y="1828800"/>
            <a:ext cx="1463040" cy="64008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14" name="Text 12"/>
          <p:cNvSpPr/>
          <p:nvPr/>
        </p:nvSpPr>
        <p:spPr>
          <a:xfrm>
            <a:off x="2286000" y="1828800"/>
            <a:ext cx="1463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Extraction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§3.2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2286000" y="2240280"/>
            <a:ext cx="1463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Policy Extraction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3703320" y="1920240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65A82"/>
                </a:solidFill>
              </a:rPr>
              <a:t>→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3931920" y="1828800"/>
            <a:ext cx="1463040" cy="64008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18" name="Text 16"/>
          <p:cNvSpPr/>
          <p:nvPr/>
        </p:nvSpPr>
        <p:spPr>
          <a:xfrm>
            <a:off x="3931920" y="1828800"/>
            <a:ext cx="1463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Formalization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§3.3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3931920" y="2240280"/>
            <a:ext cx="1463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Formal Repr.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5349240" y="1920240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65A82"/>
                </a:solidFill>
              </a:rPr>
              <a:t>→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5577840" y="1828800"/>
            <a:ext cx="1463040" cy="64008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22" name="Text 20"/>
          <p:cNvSpPr/>
          <p:nvPr/>
        </p:nvSpPr>
        <p:spPr>
          <a:xfrm>
            <a:off x="5577840" y="1828800"/>
            <a:ext cx="1463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Conflict Det.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§3.4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5577840" y="2240280"/>
            <a:ext cx="1463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Conflict Check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6995160" y="1920240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65A82"/>
                </a:solidFill>
              </a:rPr>
              <a:t>→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7223760" y="1828800"/>
            <a:ext cx="1463040" cy="64008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26" name="Text 24"/>
          <p:cNvSpPr/>
          <p:nvPr/>
        </p:nvSpPr>
        <p:spPr>
          <a:xfrm>
            <a:off x="7223760" y="1828800"/>
            <a:ext cx="1463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Assign.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§3.5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7223760" y="2240280"/>
            <a:ext cx="1463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Placement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640080" y="26060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Output: Conflict-Free Policy Set + Placement Plan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457200" y="3291840"/>
            <a:ext cx="8229600" cy="1463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457200" y="3291840"/>
            <a:ext cx="8229600" cy="36576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1" name="Text 29"/>
          <p:cNvSpPr/>
          <p:nvPr/>
        </p:nvSpPr>
        <p:spPr>
          <a:xfrm>
            <a:off x="640080" y="32918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2: Online (Runtime Enforcement)</a:t>
            </a:r>
            <a:endParaRPr lang="en-US" sz="1300" dirty="0"/>
          </a:p>
        </p:txBody>
      </p:sp>
      <p:sp>
        <p:nvSpPr>
          <p:cNvPr id="32" name="Shape 30"/>
          <p:cNvSpPr/>
          <p:nvPr/>
        </p:nvSpPr>
        <p:spPr>
          <a:xfrm>
            <a:off x="640080" y="3794760"/>
            <a:ext cx="1463040" cy="640080"/>
          </a:xfrm>
          <a:prstGeom prst="rect">
            <a:avLst/>
          </a:prstGeom>
          <a:solidFill>
            <a:srgbClr val="E8ECF1"/>
          </a:solidFill>
          <a:ln/>
        </p:spPr>
      </p:sp>
      <p:sp>
        <p:nvSpPr>
          <p:cNvPr id="33" name="Text 31"/>
          <p:cNvSpPr/>
          <p:nvPr/>
        </p:nvSpPr>
        <p:spPr>
          <a:xfrm>
            <a:off x="640080" y="3794760"/>
            <a:ext cx="1463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2057400" y="3886200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1E2761"/>
                </a:solidFill>
              </a:rPr>
              <a:t>→</a:t>
            </a:r>
            <a:endParaRPr lang="en-US" sz="1600" dirty="0"/>
          </a:p>
        </p:txBody>
      </p:sp>
      <p:sp>
        <p:nvSpPr>
          <p:cNvPr id="35" name="Shape 33"/>
          <p:cNvSpPr/>
          <p:nvPr/>
        </p:nvSpPr>
        <p:spPr>
          <a:xfrm>
            <a:off x="2286000" y="3794760"/>
            <a:ext cx="1463040" cy="64008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6" name="Text 34"/>
          <p:cNvSpPr/>
          <p:nvPr/>
        </p:nvSpPr>
        <p:spPr>
          <a:xfrm>
            <a:off x="2286000" y="3794760"/>
            <a:ext cx="1463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Pre-Gen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Classify + Retrieve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3703320" y="3886200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1E2761"/>
                </a:solidFill>
              </a:rPr>
              <a:t>→</a:t>
            </a:r>
            <a:endParaRPr lang="en-US" sz="1600" dirty="0"/>
          </a:p>
        </p:txBody>
      </p:sp>
      <p:sp>
        <p:nvSpPr>
          <p:cNvPr id="38" name="Shape 36"/>
          <p:cNvSpPr/>
          <p:nvPr/>
        </p:nvSpPr>
        <p:spPr>
          <a:xfrm>
            <a:off x="3931920" y="3794760"/>
            <a:ext cx="1463040" cy="64008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9" name="Text 37"/>
          <p:cNvSpPr/>
          <p:nvPr/>
        </p:nvSpPr>
        <p:spPr>
          <a:xfrm>
            <a:off x="3931920" y="3794760"/>
            <a:ext cx="1463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During-Gen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Inject Rules + Graphs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5349240" y="3886200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1E2761"/>
                </a:solidFill>
              </a:rPr>
              <a:t>→</a:t>
            </a:r>
            <a:endParaRPr lang="en-US" sz="1600" dirty="0"/>
          </a:p>
        </p:txBody>
      </p:sp>
      <p:sp>
        <p:nvSpPr>
          <p:cNvPr id="41" name="Shape 39"/>
          <p:cNvSpPr/>
          <p:nvPr/>
        </p:nvSpPr>
        <p:spPr>
          <a:xfrm>
            <a:off x="5577840" y="3794760"/>
            <a:ext cx="1463040" cy="64008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42" name="Text 40"/>
          <p:cNvSpPr/>
          <p:nvPr/>
        </p:nvSpPr>
        <p:spPr>
          <a:xfrm>
            <a:off x="5577840" y="3794760"/>
            <a:ext cx="1463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Post-Gen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 + Score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6995160" y="3886200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1E2761"/>
                </a:solidFill>
              </a:rPr>
              <a:t>→</a:t>
            </a:r>
            <a:endParaRPr lang="en-US" sz="1600" dirty="0"/>
          </a:p>
        </p:txBody>
      </p:sp>
      <p:sp>
        <p:nvSpPr>
          <p:cNvPr id="44" name="Shape 42"/>
          <p:cNvSpPr/>
          <p:nvPr/>
        </p:nvSpPr>
        <p:spPr>
          <a:xfrm>
            <a:off x="7223760" y="3794760"/>
            <a:ext cx="1463040" cy="640080"/>
          </a:xfrm>
          <a:prstGeom prst="rect">
            <a:avLst/>
          </a:prstGeom>
          <a:solidFill>
            <a:srgbClr val="E8ECF1"/>
          </a:solidFill>
          <a:ln/>
        </p:spPr>
      </p:sp>
      <p:sp>
        <p:nvSpPr>
          <p:cNvPr id="45" name="Text 43"/>
          <p:cNvSpPr/>
          <p:nvPr/>
        </p:nvSpPr>
        <p:spPr>
          <a:xfrm>
            <a:off x="7223760" y="3794760"/>
            <a:ext cx="1463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Response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371600"/>
            <a:ext cx="77724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Part 2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731520" y="2743200"/>
            <a:ext cx="7772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1: Policy Extraction (§3.2)</a:t>
            </a:r>
            <a:endParaRPr lang="en-US" sz="16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0" y="1645920"/>
            <a:ext cx="731520" cy="73152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31520" y="329184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pipeline that automatically extracts and structures policies from documents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228600"/>
            <a:ext cx="1645920" cy="292608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228600"/>
            <a:ext cx="1645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6400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Multi-Pass Extraction Pipeline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457200" y="1280160"/>
            <a:ext cx="8229600" cy="640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57200" y="1280160"/>
            <a:ext cx="777240" cy="64008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1280160"/>
            <a:ext cx="777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 1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457200" y="1554480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Segmentation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1371600" y="129844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 sectioning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371600" y="155448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 documents into sections using heading patterns and structural cues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5303520" y="137160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 later: Determines input units for subsequent passes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457200" y="2011680"/>
            <a:ext cx="8229600" cy="640080"/>
          </a:xfrm>
          <a:prstGeom prst="rect">
            <a:avLst/>
          </a:prstGeom>
          <a:solidFill>
            <a:srgbClr val="F7FAFC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57200" y="2011680"/>
            <a:ext cx="777240" cy="64008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15" name="Text 13"/>
          <p:cNvSpPr/>
          <p:nvPr/>
        </p:nvSpPr>
        <p:spPr>
          <a:xfrm>
            <a:off x="457200" y="2011680"/>
            <a:ext cx="777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 2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457200" y="2286000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Classification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1371600" y="202996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classification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371600" y="22860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Classify each section as policy-relevant vs. non-policy (background, definitions)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5303520" y="210312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 later: Filters out non-policy noise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457200" y="2743200"/>
            <a:ext cx="8229600" cy="640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57200" y="2743200"/>
            <a:ext cx="777240" cy="64008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22" name="Text 20"/>
          <p:cNvSpPr/>
          <p:nvPr/>
        </p:nvSpPr>
        <p:spPr>
          <a:xfrm>
            <a:off x="457200" y="2743200"/>
            <a:ext cx="777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 3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457200" y="3017520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1371600" y="276148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 extraction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1371600" y="301752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 scope, conditions, actions, exceptions with JSON schema enforcement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5303520" y="283464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 later: Core policy structure: foundation for formalization &amp; enforcement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457200" y="3474720"/>
            <a:ext cx="8229600" cy="640080"/>
          </a:xfrm>
          <a:prstGeom prst="rect">
            <a:avLst/>
          </a:prstGeom>
          <a:solidFill>
            <a:srgbClr val="F7FAFC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457200" y="3474720"/>
            <a:ext cx="777240" cy="64008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29" name="Text 27"/>
          <p:cNvSpPr/>
          <p:nvPr/>
        </p:nvSpPr>
        <p:spPr>
          <a:xfrm>
            <a:off x="457200" y="3474720"/>
            <a:ext cx="777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 4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457200" y="3749040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Entity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1371600" y="349300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Entity extraction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1371600" y="374904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monetary amounts, time periods, role names, product categories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5303520" y="356616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 later: Provides concrete values needed for SMT verification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457200" y="4206240"/>
            <a:ext cx="8229600" cy="640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457200" y="4206240"/>
            <a:ext cx="777240" cy="64008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36" name="Text 34"/>
          <p:cNvSpPr/>
          <p:nvPr/>
        </p:nvSpPr>
        <p:spPr>
          <a:xfrm>
            <a:off x="457200" y="4206240"/>
            <a:ext cx="777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 5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457200" y="4480560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1371600" y="422452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Cross-validation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1371600" y="448056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Cross-check for internal consistency, flag low-confidence extractions</a:t>
            </a:r>
            <a:endParaRPr lang="en-US" sz="950" dirty="0"/>
          </a:p>
        </p:txBody>
      </p:sp>
      <p:sp>
        <p:nvSpPr>
          <p:cNvPr id="40" name="Text 38"/>
          <p:cNvSpPr/>
          <p:nvPr/>
        </p:nvSpPr>
        <p:spPr>
          <a:xfrm>
            <a:off x="5303520" y="429768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 later: Identifies items requiring human review, ensures quality</a:t>
            </a:r>
            <a:endParaRPr lang="en-US" sz="950" dirty="0"/>
          </a:p>
        </p:txBody>
      </p:sp>
      <p:sp>
        <p:nvSpPr>
          <p:cNvPr id="41" name="Text 39"/>
          <p:cNvSpPr/>
          <p:nvPr/>
        </p:nvSpPr>
        <p:spPr>
          <a:xfrm>
            <a:off x="457200" y="46177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multi-pass? Single-pass GPT-4o achieves F1=79.8%; multi-pass achieves 87.3% — complex policies require stepwise decomposition.</a:t>
            </a:r>
            <a:endParaRPr lang="en-US" sz="10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228600"/>
            <a:ext cx="1645920" cy="292608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228600"/>
            <a:ext cx="1645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6400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Extraction Components &amp; Metadata — With Downstream Uses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457200" y="1280160"/>
            <a:ext cx="3931920" cy="3474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57200" y="1280160"/>
            <a:ext cx="3931920" cy="36576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128016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Example &amp; Extracted Components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94360" y="173736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"Customers may return items within 30 days of purchase for a full refund. Electronics must be returned within 15 days. Items without receipt receive store credit only."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594360" y="2606040"/>
            <a:ext cx="3611880" cy="438912"/>
          </a:xfrm>
          <a:prstGeom prst="rect">
            <a:avLst/>
          </a:prstGeom>
          <a:solidFill>
            <a:srgbClr val="F7FAFC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" y="2606040"/>
            <a:ext cx="868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65A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scope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1554480" y="2606040"/>
            <a:ext cx="1554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customers; all categories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3017520" y="2606040"/>
            <a:ext cx="1188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Defines policy matching range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594360" y="3108960"/>
            <a:ext cx="3611880" cy="438912"/>
          </a:xfrm>
          <a:prstGeom prst="rect">
            <a:avLst/>
          </a:prstGeom>
          <a:solidFill>
            <a:srgbClr val="F7FAFC"/>
          </a:solidFill>
          <a:ln/>
        </p:spPr>
      </p:sp>
      <p:sp>
        <p:nvSpPr>
          <p:cNvPr id="15" name="Text 13"/>
          <p:cNvSpPr/>
          <p:nvPr/>
        </p:nvSpPr>
        <p:spPr>
          <a:xfrm>
            <a:off x="640080" y="3108960"/>
            <a:ext cx="868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65A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conditions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1554480" y="3108960"/>
            <a:ext cx="1554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days (general) / 15 days (electronics)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3017520" y="3108960"/>
            <a:ext cx="1188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Converted to SMT formulas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594360" y="3611880"/>
            <a:ext cx="3611880" cy="438912"/>
          </a:xfrm>
          <a:prstGeom prst="rect">
            <a:avLst/>
          </a:prstGeom>
          <a:solidFill>
            <a:srgbClr val="F7FAFC"/>
          </a:solidFill>
          <a:ln/>
        </p:spPr>
      </p:sp>
      <p:sp>
        <p:nvSpPr>
          <p:cNvPr id="19" name="Text 17"/>
          <p:cNvSpPr/>
          <p:nvPr/>
        </p:nvSpPr>
        <p:spPr>
          <a:xfrm>
            <a:off x="640080" y="3611880"/>
            <a:ext cx="868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65A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actions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554480" y="3611880"/>
            <a:ext cx="1554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refund / Store credit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3017520" y="3611880"/>
            <a:ext cx="1188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Compared in conflict detection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594360" y="4114800"/>
            <a:ext cx="3611880" cy="438912"/>
          </a:xfrm>
          <a:prstGeom prst="rect">
            <a:avLst/>
          </a:prstGeom>
          <a:solidFill>
            <a:srgbClr val="F7FAFC"/>
          </a:solidFill>
          <a:ln/>
        </p:spPr>
      </p:sp>
      <p:sp>
        <p:nvSpPr>
          <p:cNvPr id="23" name="Text 21"/>
          <p:cNvSpPr/>
          <p:nvPr/>
        </p:nvSpPr>
        <p:spPr>
          <a:xfrm>
            <a:off x="640080" y="4114800"/>
            <a:ext cx="868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65A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exceptions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1554480" y="4114800"/>
            <a:ext cx="1554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Electronics: 15-day override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3017520" y="4114800"/>
            <a:ext cx="1188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Handled as special conditions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4663440" y="1280160"/>
            <a:ext cx="4023360" cy="3474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4663440" y="1280160"/>
            <a:ext cx="4023360" cy="36576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28" name="Text 26"/>
          <p:cNvSpPr/>
          <p:nvPr/>
        </p:nvSpPr>
        <p:spPr>
          <a:xfrm>
            <a:off x="4754880" y="128016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Governance Metadata (5 Fields)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4800600" y="178308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65A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source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5760720" y="1783080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return_policy_v3.2, §4.1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4800600" y="201168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trail — traces to origin document</a:t>
            </a:r>
            <a:endParaRPr lang="en-US" sz="850" dirty="0"/>
          </a:p>
        </p:txBody>
      </p:sp>
      <p:sp>
        <p:nvSpPr>
          <p:cNvPr id="32" name="Text 30"/>
          <p:cNvSpPr/>
          <p:nvPr/>
        </p:nvSpPr>
        <p:spPr>
          <a:xfrm>
            <a:off x="4800600" y="233172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65A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owner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5760720" y="2331720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Service Dept.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4800600" y="256032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Escalation path when conflicts arise</a:t>
            </a:r>
            <a:endParaRPr lang="en-US" sz="850" dirty="0"/>
          </a:p>
        </p:txBody>
      </p:sp>
      <p:sp>
        <p:nvSpPr>
          <p:cNvPr id="35" name="Text 33"/>
          <p:cNvSpPr/>
          <p:nvPr/>
        </p:nvSpPr>
        <p:spPr>
          <a:xfrm>
            <a:off x="4800600" y="288036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65A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eff_date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5760720" y="2880360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2024-01-15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4800600" y="310896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Auto-deactivates expired policies</a:t>
            </a:r>
            <a:endParaRPr lang="en-US" sz="850" dirty="0"/>
          </a:p>
        </p:txBody>
      </p:sp>
      <p:sp>
        <p:nvSpPr>
          <p:cNvPr id="38" name="Text 36"/>
          <p:cNvSpPr/>
          <p:nvPr/>
        </p:nvSpPr>
        <p:spPr>
          <a:xfrm>
            <a:off x="4800600" y="342900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65A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domain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5760720" y="3429000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refund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4800600" y="365760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Scopes policy matching per query</a:t>
            </a:r>
            <a:endParaRPr lang="en-US" sz="850" dirty="0"/>
          </a:p>
        </p:txBody>
      </p:sp>
      <p:sp>
        <p:nvSpPr>
          <p:cNvPr id="41" name="Text 39"/>
          <p:cNvSpPr/>
          <p:nvPr/>
        </p:nvSpPr>
        <p:spPr>
          <a:xfrm>
            <a:off x="4800600" y="397764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65A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reg_link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5760720" y="3977640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FTC Cooling-Off Rule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4800600" y="420624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Priority resolution — regulatory policies win</a:t>
            </a:r>
            <a:endParaRPr lang="en-US" sz="8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228600"/>
            <a:ext cx="1645920" cy="292608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228600"/>
            <a:ext cx="1645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6400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Implicit Policy Discovery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457200" y="1280160"/>
            <a:ext cx="3931920" cy="1645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57200" y="1280160"/>
            <a:ext cx="54864" cy="1645920"/>
          </a:xfrm>
          <a:prstGeom prst="rect">
            <a:avLst/>
          </a:prstGeom>
          <a:solidFill>
            <a:srgbClr val="065A82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1792" y="1417320"/>
            <a:ext cx="320040" cy="32004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051560" y="1353312"/>
            <a:ext cx="3154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Is This Needed?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1051560" y="1645920"/>
            <a:ext cx="3154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Organizations have unwritten rules that exist only in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patterns, not documentation: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E.g., "Refunds &gt;$500 always get manager approval"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(no explicit policy, but 80%+ consistent practice)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These gaps cause inconsistent LLM behavior.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4754880" y="1280160"/>
            <a:ext cx="3931920" cy="1645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4754880" y="1280160"/>
            <a:ext cx="54864" cy="1645920"/>
          </a:xfrm>
          <a:prstGeom prst="rect">
            <a:avLst/>
          </a:prstGeom>
          <a:solidFill>
            <a:srgbClr val="1C7293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19472" y="1417320"/>
            <a:ext cx="320040" cy="32004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5349240" y="1353312"/>
            <a:ext cx="3154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Does It Work?</a:t>
            </a:r>
            <a:endParaRPr lang="en-US" sz="1300" dirty="0"/>
          </a:p>
        </p:txBody>
      </p:sp>
      <p:sp>
        <p:nvSpPr>
          <p:cNvPr id="15" name="Text 11"/>
          <p:cNvSpPr/>
          <p:nvPr/>
        </p:nvSpPr>
        <p:spPr>
          <a:xfrm>
            <a:off x="5349240" y="1645920"/>
            <a:ext cx="3154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FP-Growth algorithm on decision logs: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conf(C→A) = |H_C∧A| / |H_C|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Candidate threshold: confidence ≥ 0.8, support ≥ 50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candidates require mandatory human validation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integration into the policy knowledge base.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457200" y="3200400"/>
            <a:ext cx="8229600" cy="1463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457200" y="3200400"/>
            <a:ext cx="54864" cy="1463040"/>
          </a:xfrm>
          <a:prstGeom prst="rect">
            <a:avLst/>
          </a:prstGeom>
          <a:solidFill>
            <a:srgbClr val="E63946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" y="3337560"/>
            <a:ext cx="320040" cy="320040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1051560" y="3273552"/>
            <a:ext cx="7452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Matters Downstream</a:t>
            </a:r>
            <a:endParaRPr lang="en-US" sz="1300" dirty="0"/>
          </a:p>
        </p:txBody>
      </p:sp>
      <p:sp>
        <p:nvSpPr>
          <p:cNvPr id="20" name="Text 15"/>
          <p:cNvSpPr/>
          <p:nvPr/>
        </p:nvSpPr>
        <p:spPr>
          <a:xfrm>
            <a:off x="1051560" y="3566160"/>
            <a:ext cx="7452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Formalization (§3.3): Implicit policies also get converted to logic rules → SMT-verifiable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Conflict Detection (§3.4): Can detect clashes between explicit policy and actual practice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(e.g., doc says "all refunds are automatic" but practice shows "$500+ needs approval")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Runtime Enforcement (§3.6): Provides guidance for cases not covered by documented policy alone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228600"/>
            <a:ext cx="1645920" cy="292608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228600"/>
            <a:ext cx="1645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 GAP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6400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Extraction Problem 1: The Variable Unification Problem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457200" y="1234440"/>
            <a:ext cx="8229600" cy="548640"/>
          </a:xfrm>
          <a:prstGeom prst="rect">
            <a:avLst/>
          </a:prstGeom>
          <a:solidFill>
            <a:srgbClr val="FFEBEE"/>
          </a:solidFill>
          <a:ln/>
        </p:spPr>
      </p:sp>
      <p:sp>
        <p:nvSpPr>
          <p:cNvPr id="7" name="Shape 5"/>
          <p:cNvSpPr/>
          <p:nvPr/>
        </p:nvSpPr>
        <p:spPr>
          <a:xfrm>
            <a:off x="457200" y="1234440"/>
            <a:ext cx="54864" cy="548640"/>
          </a:xfrm>
          <a:prstGeom prst="rect">
            <a:avLst/>
          </a:prstGeom>
          <a:solidFill>
            <a:srgbClr val="E63946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128016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Problem: Different documents describe the same concept with different words. Current pipeline has no mechanism to unify them.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57200" y="1920240"/>
            <a:ext cx="3931920" cy="24688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57200" y="1920240"/>
            <a:ext cx="3931920" cy="320040"/>
          </a:xfrm>
          <a:prstGeom prst="rect">
            <a:avLst/>
          </a:prstGeom>
          <a:solidFill>
            <a:srgbClr val="E63946"/>
          </a:solidFill>
          <a:ln/>
        </p:spPr>
      </p:sp>
      <p:sp>
        <p:nvSpPr>
          <p:cNvPr id="11" name="Text 9"/>
          <p:cNvSpPr/>
          <p:nvPr/>
        </p:nvSpPr>
        <p:spPr>
          <a:xfrm>
            <a:off x="548640" y="192024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Current: Each policy formalized independently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594360" y="2331720"/>
            <a:ext cx="36576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D374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Logistics doc: "Orders over $50 get free shipping"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2D374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LLM creates: shipping_free := true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2D374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Finance doc: "All orders incur $5.99 delivery fee"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2D374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LLM creates: delivery_fee := 5.99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2D374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Z3 sees two DIFFERENT variables: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2D374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shipping_free (bool) vs delivery_fee (float)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2D374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No conflict detected!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2D374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But these are the SAME concept!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4754880" y="1920240"/>
            <a:ext cx="3931920" cy="24688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754880" y="1920240"/>
            <a:ext cx="3931920" cy="320040"/>
          </a:xfrm>
          <a:prstGeom prst="rect">
            <a:avLst/>
          </a:prstGeom>
          <a:solidFill>
            <a:srgbClr val="2D9F5A"/>
          </a:solidFill>
          <a:ln/>
        </p:spPr>
      </p:sp>
      <p:sp>
        <p:nvSpPr>
          <p:cNvPr id="15" name="Text 13"/>
          <p:cNvSpPr/>
          <p:nvPr/>
        </p:nvSpPr>
        <p:spPr>
          <a:xfrm>
            <a:off x="4846320" y="192024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Needed: Unified schema forces same variable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892040" y="2331720"/>
            <a:ext cx="36576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D374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Logistics: "free shipping"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2D374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Schema forces: shipping_cost := 0.0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2D374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Finance: "$5.99 delivery fee"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2D374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Schema forces: shipping_cost := 5.99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2D374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Z3 sees ONE variable: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2D374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shipping_cost: 0.0 vs 5.99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2D374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SAT when amount=60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2D374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Conflict correctly detected!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457200" y="4572000"/>
            <a:ext cx="8229600" cy="457200"/>
          </a:xfrm>
          <a:prstGeom prst="rect">
            <a:avLst/>
          </a:prstGeom>
          <a:solidFill>
            <a:srgbClr val="FFF8E1"/>
          </a:solidFill>
          <a:ln/>
        </p:spPr>
      </p:sp>
      <p:sp>
        <p:nvSpPr>
          <p:cNvPr id="18" name="Text 16"/>
          <p:cNvSpPr/>
          <p:nvPr/>
        </p:nvSpPr>
        <p:spPr>
          <a:xfrm>
            <a:off x="640080" y="4590288"/>
            <a:ext cx="7772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1 of 3 critical gaps. Next: Problem 2 (lossy decomposition — information lost when splitting into components) and Problem 3 (metadata automation limits).</a:t>
            </a:r>
            <a:endParaRPr lang="en-US" sz="9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228600"/>
            <a:ext cx="1645920" cy="292608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228600"/>
            <a:ext cx="1645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PROPOSED FIX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6400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Solution: Add Schema Discovery Before Formalization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457200" y="1234440"/>
            <a:ext cx="8229600" cy="640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48640" y="1280160"/>
            <a:ext cx="1508760" cy="502920"/>
          </a:xfrm>
          <a:prstGeom prst="rect">
            <a:avLst/>
          </a:prstGeom>
          <a:solidFill>
            <a:srgbClr val="E0F2F1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1261872"/>
            <a:ext cx="548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 1-5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1051560" y="1261872"/>
            <a:ext cx="1005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Extraction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(existing)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1993392" y="1325880"/>
            <a:ext cx="274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2D3748"/>
                </a:solidFill>
              </a:rPr>
              <a:t>→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2240280" y="1280160"/>
            <a:ext cx="1508760" cy="502920"/>
          </a:xfrm>
          <a:prstGeom prst="rect">
            <a:avLst/>
          </a:prstGeom>
          <a:solidFill>
            <a:srgbClr val="FFF3E0"/>
          </a:solidFill>
          <a:ln/>
        </p:spPr>
      </p:sp>
      <p:sp>
        <p:nvSpPr>
          <p:cNvPr id="12" name="Text 10"/>
          <p:cNvSpPr/>
          <p:nvPr/>
        </p:nvSpPr>
        <p:spPr>
          <a:xfrm>
            <a:off x="2240280" y="1261872"/>
            <a:ext cx="548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 6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2743200" y="1261872"/>
            <a:ext cx="1005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Embedding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Clustering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685032" y="1325880"/>
            <a:ext cx="274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2D3748"/>
                </a:solidFill>
              </a:rPr>
              <a:t>→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3931920" y="1280160"/>
            <a:ext cx="1508760" cy="502920"/>
          </a:xfrm>
          <a:prstGeom prst="rect">
            <a:avLst/>
          </a:prstGeom>
          <a:solidFill>
            <a:srgbClr val="FFF3E0"/>
          </a:solidFill>
          <a:ln/>
        </p:spPr>
      </p:sp>
      <p:sp>
        <p:nvSpPr>
          <p:cNvPr id="16" name="Text 14"/>
          <p:cNvSpPr/>
          <p:nvPr/>
        </p:nvSpPr>
        <p:spPr>
          <a:xfrm>
            <a:off x="3931920" y="1261872"/>
            <a:ext cx="548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 7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4434840" y="1261872"/>
            <a:ext cx="1005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Schema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Generation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5376672" y="1325880"/>
            <a:ext cx="274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2D3748"/>
                </a:solidFill>
              </a:rPr>
              <a:t>→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5623560" y="1280160"/>
            <a:ext cx="1508760" cy="502920"/>
          </a:xfrm>
          <a:prstGeom prst="rect">
            <a:avLst/>
          </a:prstGeom>
          <a:solidFill>
            <a:srgbClr val="E0F2F1"/>
          </a:solidFill>
          <a:ln/>
        </p:spPr>
      </p:sp>
      <p:sp>
        <p:nvSpPr>
          <p:cNvPr id="20" name="Text 18"/>
          <p:cNvSpPr/>
          <p:nvPr/>
        </p:nvSpPr>
        <p:spPr>
          <a:xfrm>
            <a:off x="5623560" y="1261872"/>
            <a:ext cx="548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§3.3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6126480" y="1261872"/>
            <a:ext cx="1005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Formalization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(constrained)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7068312" y="1325880"/>
            <a:ext cx="274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2D3748"/>
                </a:solidFill>
              </a:rPr>
              <a:t>→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7315200" y="1280160"/>
            <a:ext cx="1508760" cy="502920"/>
          </a:xfrm>
          <a:prstGeom prst="rect">
            <a:avLst/>
          </a:prstGeom>
          <a:solidFill>
            <a:srgbClr val="E0F2F1"/>
          </a:solidFill>
          <a:ln/>
        </p:spPr>
      </p:sp>
      <p:sp>
        <p:nvSpPr>
          <p:cNvPr id="24" name="Text 22"/>
          <p:cNvSpPr/>
          <p:nvPr/>
        </p:nvSpPr>
        <p:spPr>
          <a:xfrm>
            <a:off x="7315200" y="1261872"/>
            <a:ext cx="548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§3.4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7818120" y="1261872"/>
            <a:ext cx="1005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Conflict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Detection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457200" y="2011680"/>
            <a:ext cx="3931920" cy="1371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457200" y="2011680"/>
            <a:ext cx="54864" cy="1371600"/>
          </a:xfrm>
          <a:prstGeom prst="rect">
            <a:avLst/>
          </a:prstGeom>
          <a:solidFill>
            <a:srgbClr val="F4A261"/>
          </a:solidFill>
          <a:ln/>
        </p:spPr>
      </p:sp>
      <p:sp>
        <p:nvSpPr>
          <p:cNvPr id="28" name="Text 26"/>
          <p:cNvSpPr/>
          <p:nvPr/>
        </p:nvSpPr>
        <p:spPr>
          <a:xfrm>
            <a:off x="640080" y="2084832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 6: Embedding Clustering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640080" y="2377440"/>
            <a:ext cx="3566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Embed all extracted actions (Sentence-BERT)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Cosine similarity matrix → cluster similar actions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"free shipping" ↔ "$5.99 delivery fee" = 0.89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Cluster = "these describe the same variable"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Also classifies: unmappable actions → semantic-only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e.g. "Be polite to customers" → no logic rule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4754880" y="2011680"/>
            <a:ext cx="3931920" cy="1371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4754880" y="2011680"/>
            <a:ext cx="54864" cy="1371600"/>
          </a:xfrm>
          <a:prstGeom prst="rect">
            <a:avLst/>
          </a:prstGeom>
          <a:solidFill>
            <a:srgbClr val="F4A261"/>
          </a:solidFill>
          <a:ln/>
        </p:spPr>
      </p:sp>
      <p:sp>
        <p:nvSpPr>
          <p:cNvPr id="32" name="Text 30"/>
          <p:cNvSpPr/>
          <p:nvPr/>
        </p:nvSpPr>
        <p:spPr>
          <a:xfrm>
            <a:off x="4937760" y="2084832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 7: Schema Generation + Value Mapping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4937760" y="2377440"/>
            <a:ext cx="3566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receives each cluster and generates: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canonical_var: shipping_cost (type: float)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"free shipping" → shipping_cost := 0.0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"$5.99 fee" → shipping_cost := 5.99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Entity extraction (old Pass 4) absorbed here.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 tagging derived automatically from clusters.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457200" y="3566160"/>
            <a:ext cx="8229600" cy="1371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457200" y="3566160"/>
            <a:ext cx="8229600" cy="292608"/>
          </a:xfrm>
          <a:prstGeom prst="rect">
            <a:avLst/>
          </a:prstGeom>
          <a:solidFill>
            <a:srgbClr val="2D9F5A"/>
          </a:solidFill>
          <a:ln/>
        </p:spPr>
      </p:sp>
      <p:sp>
        <p:nvSpPr>
          <p:cNvPr id="36" name="Text 34"/>
          <p:cNvSpPr/>
          <p:nvPr/>
        </p:nvSpPr>
        <p:spPr>
          <a:xfrm>
            <a:off x="594360" y="3566160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This Fixes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640080" y="3931920"/>
            <a:ext cx="2560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D9F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Variable unification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3200400" y="3931920"/>
            <a:ext cx="5303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synonymous actions map to one canonical variable → Z3 can compare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640080" y="4169664"/>
            <a:ext cx="2560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D9F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Formalization is no longer a black box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3200400" y="4169664"/>
            <a:ext cx="5303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Schema constrains LLM output — no free variable naming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640080" y="4407408"/>
            <a:ext cx="2560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Automatic logic/semantic routing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3200400" y="4407408"/>
            <a:ext cx="5303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Mappable → SMT path; unmappable → LLM semantic path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640080" y="4645152"/>
            <a:ext cx="2560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Entity extraction merged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3200400" y="4645152"/>
            <a:ext cx="5303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Values extracted during mapping — no separate Pass 4 needed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228600"/>
            <a:ext cx="1645920" cy="292608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228600"/>
            <a:ext cx="1645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 GAP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6400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Extraction Problem 2: Lossy Decomposition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457200" y="1234440"/>
            <a:ext cx="8229600" cy="502920"/>
          </a:xfrm>
          <a:prstGeom prst="rect">
            <a:avLst/>
          </a:prstGeom>
          <a:solidFill>
            <a:srgbClr val="FFEBEE"/>
          </a:solidFill>
          <a:ln/>
        </p:spPr>
      </p:sp>
      <p:sp>
        <p:nvSpPr>
          <p:cNvPr id="7" name="Shape 5"/>
          <p:cNvSpPr/>
          <p:nvPr/>
        </p:nvSpPr>
        <p:spPr>
          <a:xfrm>
            <a:off x="457200" y="1234440"/>
            <a:ext cx="54864" cy="502920"/>
          </a:xfrm>
          <a:prstGeom prst="rect">
            <a:avLst/>
          </a:prstGeom>
          <a:solidFill>
            <a:srgbClr val="E63946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1261872"/>
            <a:ext cx="7772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Natural Language → scope/conditions/actions/exceptions is NOT 1:1. Information is permanently lost in decomposition.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57200" y="1874520"/>
            <a:ext cx="4937760" cy="25603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57200" y="1874520"/>
            <a:ext cx="4937760" cy="274320"/>
          </a:xfrm>
          <a:prstGeom prst="rect">
            <a:avLst/>
          </a:prstGeom>
          <a:solidFill>
            <a:srgbClr val="E63946"/>
          </a:solidFill>
          <a:ln/>
        </p:spPr>
      </p:sp>
      <p:sp>
        <p:nvSpPr>
          <p:cNvPr id="11" name="Text 9"/>
          <p:cNvSpPr/>
          <p:nvPr/>
        </p:nvSpPr>
        <p:spPr>
          <a:xfrm>
            <a:off x="548640" y="1874520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Types of Information Lost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594360" y="2212848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Component Relationships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594360" y="2368296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2D374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"Refunds &gt;$500 require approval, unless member &gt;5yr"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2D374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"unless" links exception TO condition. After separation,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2D374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Rule1: amt&gt;500 → approval  |  Rule2: yr&gt;5 → skip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2D374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Z3 sees conflict, but Rule2 was exception to Rule1!</a:t>
            </a:r>
            <a:endParaRPr lang="en-US" sz="750" dirty="0"/>
          </a:p>
        </p:txBody>
      </p:sp>
      <p:sp>
        <p:nvSpPr>
          <p:cNvPr id="14" name="Text 12"/>
          <p:cNvSpPr/>
          <p:nvPr/>
        </p:nvSpPr>
        <p:spPr>
          <a:xfrm>
            <a:off x="594360" y="2651760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E65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Inverse Implications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594360" y="2807208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2D374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"All returns require a receipt"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2D374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Implies: no receipt = return denied (humans infer this)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2D374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Components only capture the positive statement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594360" y="3090672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Cross-document References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594360" y="3246120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2D374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"Please refer to product-specific guidelines for exact timeframes."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2D374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Points to another document. Cannot be captured in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2D374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scope/conditions/actions/exceptions structure</a:t>
            </a:r>
            <a:endParaRPr lang="en-US" sz="750" dirty="0"/>
          </a:p>
        </p:txBody>
      </p:sp>
      <p:sp>
        <p:nvSpPr>
          <p:cNvPr id="18" name="Text 16"/>
          <p:cNvSpPr/>
          <p:nvPr/>
        </p:nvSpPr>
        <p:spPr>
          <a:xfrm>
            <a:off x="594360" y="3529584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Degree &amp; Nuance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594360" y="3685032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2D374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"Shorter return period" — how much shorter?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2D374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"Reasonable timeframe" — what counts as reasonable?</a:t>
            </a:r>
            <a:endParaRPr lang="en-US" sz="750" dirty="0"/>
          </a:p>
        </p:txBody>
      </p:sp>
      <p:sp>
        <p:nvSpPr>
          <p:cNvPr id="20" name="Text 18"/>
          <p:cNvSpPr/>
          <p:nvPr/>
        </p:nvSpPr>
        <p:spPr>
          <a:xfrm>
            <a:off x="594360" y="3968496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Nested Condition Structure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594360" y="4123944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2D374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"if A and (B or C) unless D" → flattened into separate fields,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2D374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logical nesting (parentheses, precedence) lost</a:t>
            </a:r>
            <a:endParaRPr lang="en-US" sz="750" dirty="0"/>
          </a:p>
        </p:txBody>
      </p:sp>
      <p:sp>
        <p:nvSpPr>
          <p:cNvPr id="22" name="Shape 20"/>
          <p:cNvSpPr/>
          <p:nvPr/>
        </p:nvSpPr>
        <p:spPr>
          <a:xfrm>
            <a:off x="5577840" y="1874520"/>
            <a:ext cx="3108960" cy="25603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5577840" y="1874520"/>
            <a:ext cx="3108960" cy="274320"/>
          </a:xfrm>
          <a:prstGeom prst="rect">
            <a:avLst/>
          </a:prstGeom>
          <a:solidFill>
            <a:srgbClr val="2D9F5A"/>
          </a:solidFill>
          <a:ln/>
        </p:spPr>
      </p:sp>
      <p:sp>
        <p:nvSpPr>
          <p:cNvPr id="24" name="Text 22"/>
          <p:cNvSpPr/>
          <p:nvPr/>
        </p:nvSpPr>
        <p:spPr>
          <a:xfrm>
            <a:off x="5669280" y="187452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Proposed Mitigations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5715000" y="2240280"/>
            <a:ext cx="2834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D9F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Keep Original Text Attached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5715000" y="2423160"/>
            <a:ext cx="2834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2D374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Store _original_text + _source_location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2D374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with every extracted component.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2D374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When Z3 flags conflict, LLM checks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2D374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original to judge "real or exception?"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5715000" y="2971800"/>
            <a:ext cx="2834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D9F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Explicit Relationship Tags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5715000" y="315468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2D374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exceptions: {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2D374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trigger: "member_yr &gt; 5",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2D374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relation: "overrides",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2D374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target: "conditions[0]"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2D374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2D374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"unless" becomes ¬ in single rule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2D374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No false positive from Z3</a:t>
            </a:r>
            <a:endParaRPr lang="en-US" sz="750" dirty="0"/>
          </a:p>
        </p:txBody>
      </p:sp>
      <p:sp>
        <p:nvSpPr>
          <p:cNvPr id="29" name="Text 27"/>
          <p:cNvSpPr/>
          <p:nvPr/>
        </p:nvSpPr>
        <p:spPr>
          <a:xfrm>
            <a:off x="5715000" y="3840480"/>
            <a:ext cx="2834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D9F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 Generate Reverse Implications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5715000" y="402336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2D374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"require receipt" → auto-generate: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2D374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implied: "no receipt → denied"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2D374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confidence: 0.85 → human review</a:t>
            </a:r>
            <a:endParaRPr lang="en-US" sz="800" dirty="0"/>
          </a:p>
        </p:txBody>
      </p:sp>
      <p:sp>
        <p:nvSpPr>
          <p:cNvPr id="31" name="Shape 29"/>
          <p:cNvSpPr/>
          <p:nvPr/>
        </p:nvSpPr>
        <p:spPr>
          <a:xfrm>
            <a:off x="457200" y="4572000"/>
            <a:ext cx="8229600" cy="411480"/>
          </a:xfrm>
          <a:prstGeom prst="rect">
            <a:avLst/>
          </a:prstGeom>
          <a:solidFill>
            <a:srgbClr val="FFF8E1"/>
          </a:solidFill>
          <a:ln/>
        </p:spPr>
      </p:sp>
      <p:sp>
        <p:nvSpPr>
          <p:cNvPr id="32" name="Text 30"/>
          <p:cNvSpPr/>
          <p:nvPr/>
        </p:nvSpPr>
        <p:spPr>
          <a:xfrm>
            <a:off x="640080" y="4599432"/>
            <a:ext cx="7772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Fundamental limit: perfect extraction is impossible. LLM semantic analysis acts as safety net compensating for extraction incompleteness — this is the real reason for the hybrid approach.</a:t>
            </a:r>
            <a:endParaRPr lang="en-US" sz="9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228600"/>
            <a:ext cx="1645920" cy="292608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228600"/>
            <a:ext cx="1645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 GAP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6400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Extraction Problem 3: Metadata Is NOT Fully Automatic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457200" y="1234440"/>
            <a:ext cx="8229600" cy="457200"/>
          </a:xfrm>
          <a:prstGeom prst="rect">
            <a:avLst/>
          </a:prstGeom>
          <a:solidFill>
            <a:srgbClr val="FFEBEE"/>
          </a:solidFill>
          <a:ln/>
        </p:spPr>
      </p:sp>
      <p:sp>
        <p:nvSpPr>
          <p:cNvPr id="7" name="Shape 5"/>
          <p:cNvSpPr/>
          <p:nvPr/>
        </p:nvSpPr>
        <p:spPr>
          <a:xfrm>
            <a:off x="457200" y="1234440"/>
            <a:ext cx="54864" cy="457200"/>
          </a:xfrm>
          <a:prstGeom prst="rect">
            <a:avLst/>
          </a:prstGeom>
          <a:solidFill>
            <a:srgbClr val="E63946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1261872"/>
            <a:ext cx="7772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Paper implies all 5 metadata fields auto-extract. Reality: only 2 are fully automatic. 2 need human confirmation.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57200" y="1874520"/>
            <a:ext cx="1463040" cy="292608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10" name="Text 8"/>
          <p:cNvSpPr/>
          <p:nvPr/>
        </p:nvSpPr>
        <p:spPr>
          <a:xfrm>
            <a:off x="457200" y="1874520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Field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1920240" y="1874520"/>
            <a:ext cx="1737360" cy="292608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12" name="Text 10"/>
          <p:cNvSpPr/>
          <p:nvPr/>
        </p:nvSpPr>
        <p:spPr>
          <a:xfrm>
            <a:off x="1920240" y="1874520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Generated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3657600" y="1874520"/>
            <a:ext cx="1645920" cy="292608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14" name="Text 12"/>
          <p:cNvSpPr/>
          <p:nvPr/>
        </p:nvSpPr>
        <p:spPr>
          <a:xfrm>
            <a:off x="3657600" y="1874520"/>
            <a:ext cx="1645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Automation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5303520" y="1874520"/>
            <a:ext cx="1463040" cy="292608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16" name="Text 14"/>
          <p:cNvSpPr/>
          <p:nvPr/>
        </p:nvSpPr>
        <p:spPr>
          <a:xfrm>
            <a:off x="5303520" y="1874520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 Cost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6766560" y="1874520"/>
            <a:ext cx="1920240" cy="292608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18" name="Text 16"/>
          <p:cNvSpPr/>
          <p:nvPr/>
        </p:nvSpPr>
        <p:spPr>
          <a:xfrm>
            <a:off x="6766560" y="1874520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Notes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457200" y="2167128"/>
            <a:ext cx="1463040" cy="594360"/>
          </a:xfrm>
          <a:prstGeom prst="rect">
            <a:avLst/>
          </a:prstGeom>
          <a:solidFill>
            <a:srgbClr val="F8F9FA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920240" y="2167128"/>
            <a:ext cx="1737360" cy="594360"/>
          </a:xfrm>
          <a:prstGeom prst="rect">
            <a:avLst/>
          </a:prstGeom>
          <a:solidFill>
            <a:srgbClr val="F8F9FA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657600" y="2167128"/>
            <a:ext cx="1645920" cy="594360"/>
          </a:xfrm>
          <a:prstGeom prst="rect">
            <a:avLst/>
          </a:prstGeom>
          <a:solidFill>
            <a:srgbClr val="F8F9FA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303520" y="2167128"/>
            <a:ext cx="1463040" cy="594360"/>
          </a:xfrm>
          <a:prstGeom prst="rect">
            <a:avLst/>
          </a:prstGeom>
          <a:solidFill>
            <a:srgbClr val="F8F9FA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766560" y="2167128"/>
            <a:ext cx="1920240" cy="594360"/>
          </a:xfrm>
          <a:prstGeom prst="rect">
            <a:avLst/>
          </a:prstGeom>
          <a:solidFill>
            <a:srgbClr val="F8F9FA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57200" y="2167128"/>
            <a:ext cx="1463040" cy="594360"/>
          </a:xfrm>
          <a:prstGeom prst="rect">
            <a:avLst/>
          </a:prstGeom>
          <a:solidFill>
            <a:srgbClr val="F8F9FA"/>
          </a:solidFill>
          <a:ln/>
        </p:spPr>
      </p:sp>
      <p:sp>
        <p:nvSpPr>
          <p:cNvPr id="25" name="Shape 23"/>
          <p:cNvSpPr/>
          <p:nvPr/>
        </p:nvSpPr>
        <p:spPr>
          <a:xfrm>
            <a:off x="457200" y="2167128"/>
            <a:ext cx="54864" cy="594360"/>
          </a:xfrm>
          <a:prstGeom prst="rect">
            <a:avLst/>
          </a:prstGeom>
          <a:solidFill>
            <a:srgbClr val="2D9F5A"/>
          </a:solidFill>
          <a:ln/>
        </p:spPr>
      </p:sp>
      <p:sp>
        <p:nvSpPr>
          <p:cNvPr id="26" name="Text 24"/>
          <p:cNvSpPr/>
          <p:nvPr/>
        </p:nvSpPr>
        <p:spPr>
          <a:xfrm>
            <a:off x="548640" y="2167128"/>
            <a:ext cx="1371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1965960" y="2167128"/>
            <a:ext cx="1645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2D374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System auto-record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2D374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(filename, page, ¶)</a:t>
            </a:r>
            <a:endParaRPr lang="en-US" sz="750" dirty="0"/>
          </a:p>
        </p:txBody>
      </p:sp>
      <p:sp>
        <p:nvSpPr>
          <p:cNvPr id="28" name="Text 26"/>
          <p:cNvSpPr/>
          <p:nvPr/>
        </p:nvSpPr>
        <p:spPr>
          <a:xfrm>
            <a:off x="3657600" y="2167128"/>
            <a:ext cx="1645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D9F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Fully Auto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5303520" y="2167128"/>
            <a:ext cx="1463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(audit only)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6812280" y="2167128"/>
            <a:ext cx="1828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2D374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Easiest. Pass 1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2D374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already has location.</a:t>
            </a:r>
            <a:endParaRPr lang="en-US" sz="750" dirty="0"/>
          </a:p>
        </p:txBody>
      </p:sp>
      <p:sp>
        <p:nvSpPr>
          <p:cNvPr id="31" name="Shape 29"/>
          <p:cNvSpPr/>
          <p:nvPr/>
        </p:nvSpPr>
        <p:spPr>
          <a:xfrm>
            <a:off x="457200" y="2761488"/>
            <a:ext cx="1463040" cy="59436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1920240" y="2761488"/>
            <a:ext cx="1737360" cy="59436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3657600" y="2761488"/>
            <a:ext cx="1645920" cy="59436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5303520" y="2761488"/>
            <a:ext cx="1463040" cy="59436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6766560" y="2761488"/>
            <a:ext cx="1920240" cy="59436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457200" y="2761488"/>
            <a:ext cx="1463040" cy="5943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7" name="Shape 35"/>
          <p:cNvSpPr/>
          <p:nvPr/>
        </p:nvSpPr>
        <p:spPr>
          <a:xfrm>
            <a:off x="457200" y="2761488"/>
            <a:ext cx="54864" cy="594360"/>
          </a:xfrm>
          <a:prstGeom prst="rect">
            <a:avLst/>
          </a:prstGeom>
          <a:solidFill>
            <a:srgbClr val="2D9F5A"/>
          </a:solidFill>
          <a:ln/>
        </p:spPr>
      </p:sp>
      <p:sp>
        <p:nvSpPr>
          <p:cNvPr id="38" name="Text 36"/>
          <p:cNvSpPr/>
          <p:nvPr/>
        </p:nvSpPr>
        <p:spPr>
          <a:xfrm>
            <a:off x="548640" y="2761488"/>
            <a:ext cx="1371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</a:t>
            </a:r>
            <a:endParaRPr lang="en-US" sz="950" dirty="0"/>
          </a:p>
        </p:txBody>
      </p:sp>
      <p:sp>
        <p:nvSpPr>
          <p:cNvPr id="39" name="Text 37"/>
          <p:cNvSpPr/>
          <p:nvPr/>
        </p:nvSpPr>
        <p:spPr>
          <a:xfrm>
            <a:off x="1965960" y="2761488"/>
            <a:ext cx="1645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2D374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Text classification or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2D374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schema byproduct</a:t>
            </a:r>
            <a:endParaRPr lang="en-US" sz="750" dirty="0"/>
          </a:p>
        </p:txBody>
      </p:sp>
      <p:sp>
        <p:nvSpPr>
          <p:cNvPr id="40" name="Text 38"/>
          <p:cNvSpPr/>
          <p:nvPr/>
        </p:nvSpPr>
        <p:spPr>
          <a:xfrm>
            <a:off x="3657600" y="2761488"/>
            <a:ext cx="1645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D9F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Fully Auto</a:t>
            </a:r>
            <a:endParaRPr lang="en-US" sz="850" dirty="0"/>
          </a:p>
        </p:txBody>
      </p:sp>
      <p:sp>
        <p:nvSpPr>
          <p:cNvPr id="41" name="Text 39"/>
          <p:cNvSpPr/>
          <p:nvPr/>
        </p:nvSpPr>
        <p:spPr>
          <a:xfrm>
            <a:off x="5303520" y="2761488"/>
            <a:ext cx="1463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(search scope)</a:t>
            </a:r>
            <a:endParaRPr lang="en-US" sz="800" dirty="0"/>
          </a:p>
        </p:txBody>
      </p:sp>
      <p:sp>
        <p:nvSpPr>
          <p:cNvPr id="42" name="Text 40"/>
          <p:cNvSpPr/>
          <p:nvPr/>
        </p:nvSpPr>
        <p:spPr>
          <a:xfrm>
            <a:off x="6812280" y="2761488"/>
            <a:ext cx="1828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2D374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LLM excels at this.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2D374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Pass 6 can derive.</a:t>
            </a:r>
            <a:endParaRPr lang="en-US" sz="750" dirty="0"/>
          </a:p>
        </p:txBody>
      </p:sp>
      <p:sp>
        <p:nvSpPr>
          <p:cNvPr id="43" name="Shape 41"/>
          <p:cNvSpPr/>
          <p:nvPr/>
        </p:nvSpPr>
        <p:spPr>
          <a:xfrm>
            <a:off x="457200" y="3355848"/>
            <a:ext cx="1463040" cy="594360"/>
          </a:xfrm>
          <a:prstGeom prst="rect">
            <a:avLst/>
          </a:prstGeom>
          <a:solidFill>
            <a:srgbClr val="F8F9FA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1920240" y="3355848"/>
            <a:ext cx="1737360" cy="594360"/>
          </a:xfrm>
          <a:prstGeom prst="rect">
            <a:avLst/>
          </a:prstGeom>
          <a:solidFill>
            <a:srgbClr val="F8F9FA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3657600" y="3355848"/>
            <a:ext cx="1645920" cy="594360"/>
          </a:xfrm>
          <a:prstGeom prst="rect">
            <a:avLst/>
          </a:prstGeom>
          <a:solidFill>
            <a:srgbClr val="F8F9FA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5303520" y="3355848"/>
            <a:ext cx="1463040" cy="594360"/>
          </a:xfrm>
          <a:prstGeom prst="rect">
            <a:avLst/>
          </a:prstGeom>
          <a:solidFill>
            <a:srgbClr val="F8F9FA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6766560" y="3355848"/>
            <a:ext cx="1920240" cy="594360"/>
          </a:xfrm>
          <a:prstGeom prst="rect">
            <a:avLst/>
          </a:prstGeom>
          <a:solidFill>
            <a:srgbClr val="F8F9FA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457200" y="3355848"/>
            <a:ext cx="1463040" cy="594360"/>
          </a:xfrm>
          <a:prstGeom prst="rect">
            <a:avLst/>
          </a:prstGeom>
          <a:solidFill>
            <a:srgbClr val="F8F9FA"/>
          </a:solidFill>
          <a:ln/>
        </p:spPr>
      </p:sp>
      <p:sp>
        <p:nvSpPr>
          <p:cNvPr id="49" name="Shape 47"/>
          <p:cNvSpPr/>
          <p:nvPr/>
        </p:nvSpPr>
        <p:spPr>
          <a:xfrm>
            <a:off x="457200" y="3355848"/>
            <a:ext cx="54864" cy="594360"/>
          </a:xfrm>
          <a:prstGeom prst="rect">
            <a:avLst/>
          </a:prstGeom>
          <a:solidFill>
            <a:srgbClr val="F4A261"/>
          </a:solidFill>
          <a:ln/>
        </p:spPr>
      </p:sp>
      <p:sp>
        <p:nvSpPr>
          <p:cNvPr id="50" name="Text 48"/>
          <p:cNvSpPr/>
          <p:nvPr/>
        </p:nvSpPr>
        <p:spPr>
          <a:xfrm>
            <a:off x="548640" y="3355848"/>
            <a:ext cx="1371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eff_date</a:t>
            </a:r>
            <a:endParaRPr lang="en-US" sz="950" dirty="0"/>
          </a:p>
        </p:txBody>
      </p:sp>
      <p:sp>
        <p:nvSpPr>
          <p:cNvPr id="51" name="Text 49"/>
          <p:cNvSpPr/>
          <p:nvPr/>
        </p:nvSpPr>
        <p:spPr>
          <a:xfrm>
            <a:off x="1965960" y="3355848"/>
            <a:ext cx="1645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2D374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Date pattern in text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2D374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 PDF metadata fallback</a:t>
            </a:r>
            <a:endParaRPr lang="en-US" sz="750" dirty="0"/>
          </a:p>
        </p:txBody>
      </p:sp>
      <p:sp>
        <p:nvSpPr>
          <p:cNvPr id="52" name="Text 50"/>
          <p:cNvSpPr/>
          <p:nvPr/>
        </p:nvSpPr>
        <p:spPr>
          <a:xfrm>
            <a:off x="3657600" y="3355848"/>
            <a:ext cx="1645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Auto</a:t>
            </a:r>
            <a:endParaRPr lang="en-US" sz="850" dirty="0"/>
          </a:p>
        </p:txBody>
      </p:sp>
      <p:sp>
        <p:nvSpPr>
          <p:cNvPr id="53" name="Text 51"/>
          <p:cNvSpPr/>
          <p:nvPr/>
        </p:nvSpPr>
        <p:spPr>
          <a:xfrm>
            <a:off x="5303520" y="3355848"/>
            <a:ext cx="1463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(expiration)</a:t>
            </a:r>
            <a:endParaRPr lang="en-US" sz="800" dirty="0"/>
          </a:p>
        </p:txBody>
      </p:sp>
      <p:sp>
        <p:nvSpPr>
          <p:cNvPr id="54" name="Text 52"/>
          <p:cNvSpPr/>
          <p:nvPr/>
        </p:nvSpPr>
        <p:spPr>
          <a:xfrm>
            <a:off x="6812280" y="3355848"/>
            <a:ext cx="1828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2D374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Missing → use file date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2D374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 exp_date field!</a:t>
            </a:r>
            <a:endParaRPr lang="en-US" sz="750" dirty="0"/>
          </a:p>
        </p:txBody>
      </p:sp>
      <p:sp>
        <p:nvSpPr>
          <p:cNvPr id="55" name="Shape 53"/>
          <p:cNvSpPr/>
          <p:nvPr/>
        </p:nvSpPr>
        <p:spPr>
          <a:xfrm>
            <a:off x="457200" y="3950208"/>
            <a:ext cx="1463040" cy="59436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1920240" y="3950208"/>
            <a:ext cx="1737360" cy="59436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3657600" y="3950208"/>
            <a:ext cx="1645920" cy="59436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5303520" y="3950208"/>
            <a:ext cx="1463040" cy="59436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6766560" y="3950208"/>
            <a:ext cx="1920240" cy="59436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457200" y="3950208"/>
            <a:ext cx="1463040" cy="5943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61" name="Shape 59"/>
          <p:cNvSpPr/>
          <p:nvPr/>
        </p:nvSpPr>
        <p:spPr>
          <a:xfrm>
            <a:off x="457200" y="3950208"/>
            <a:ext cx="54864" cy="594360"/>
          </a:xfrm>
          <a:prstGeom prst="rect">
            <a:avLst/>
          </a:prstGeom>
          <a:solidFill>
            <a:srgbClr val="E63946"/>
          </a:solidFill>
          <a:ln/>
        </p:spPr>
      </p:sp>
      <p:sp>
        <p:nvSpPr>
          <p:cNvPr id="62" name="Text 60"/>
          <p:cNvSpPr/>
          <p:nvPr/>
        </p:nvSpPr>
        <p:spPr>
          <a:xfrm>
            <a:off x="548640" y="3950208"/>
            <a:ext cx="1371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</a:t>
            </a:r>
            <a:endParaRPr lang="en-US" sz="950" dirty="0"/>
          </a:p>
        </p:txBody>
      </p:sp>
      <p:sp>
        <p:nvSpPr>
          <p:cNvPr id="63" name="Text 61"/>
          <p:cNvSpPr/>
          <p:nvPr/>
        </p:nvSpPr>
        <p:spPr>
          <a:xfrm>
            <a:off x="1965960" y="3950208"/>
            <a:ext cx="1645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2D374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 metadata + dir path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2D374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 LLM recommend</a:t>
            </a:r>
            <a:endParaRPr lang="en-US" sz="750" dirty="0"/>
          </a:p>
        </p:txBody>
      </p:sp>
      <p:sp>
        <p:nvSpPr>
          <p:cNvPr id="64" name="Text 62"/>
          <p:cNvSpPr/>
          <p:nvPr/>
        </p:nvSpPr>
        <p:spPr>
          <a:xfrm>
            <a:off x="3657600" y="3950208"/>
            <a:ext cx="1645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Semi-Auto</a:t>
            </a:r>
            <a:endParaRPr lang="en-US" sz="850" dirty="0"/>
          </a:p>
          <a:p>
            <a:pPr algn="ctr" indent="0" marL="0">
              <a:buNone/>
            </a:pPr>
            <a:r>
              <a:rPr lang="en-US" sz="850" b="1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(human confirm)</a:t>
            </a:r>
            <a:endParaRPr lang="en-US" sz="850" dirty="0"/>
          </a:p>
        </p:txBody>
      </p:sp>
      <p:sp>
        <p:nvSpPr>
          <p:cNvPr id="65" name="Text 63"/>
          <p:cNvSpPr/>
          <p:nvPr/>
        </p:nvSpPr>
        <p:spPr>
          <a:xfrm>
            <a:off x="5303520" y="3950208"/>
            <a:ext cx="1463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(wrong escalation)</a:t>
            </a:r>
            <a:endParaRPr lang="en-US" sz="800" dirty="0"/>
          </a:p>
        </p:txBody>
      </p:sp>
      <p:sp>
        <p:nvSpPr>
          <p:cNvPr id="66" name="Text 64"/>
          <p:cNvSpPr/>
          <p:nvPr/>
        </p:nvSpPr>
        <p:spPr>
          <a:xfrm>
            <a:off x="6812280" y="3950208"/>
            <a:ext cx="1828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2D374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Most docs lack explicit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2D374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owner. Need UI confirm.</a:t>
            </a:r>
            <a:endParaRPr lang="en-US" sz="750" dirty="0"/>
          </a:p>
        </p:txBody>
      </p:sp>
      <p:sp>
        <p:nvSpPr>
          <p:cNvPr id="67" name="Shape 65"/>
          <p:cNvSpPr/>
          <p:nvPr/>
        </p:nvSpPr>
        <p:spPr>
          <a:xfrm>
            <a:off x="457200" y="4544568"/>
            <a:ext cx="1463040" cy="594360"/>
          </a:xfrm>
          <a:prstGeom prst="rect">
            <a:avLst/>
          </a:prstGeom>
          <a:solidFill>
            <a:srgbClr val="F8F9FA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1920240" y="4544568"/>
            <a:ext cx="1737360" cy="594360"/>
          </a:xfrm>
          <a:prstGeom prst="rect">
            <a:avLst/>
          </a:prstGeom>
          <a:solidFill>
            <a:srgbClr val="F8F9FA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3657600" y="4544568"/>
            <a:ext cx="1645920" cy="594360"/>
          </a:xfrm>
          <a:prstGeom prst="rect">
            <a:avLst/>
          </a:prstGeom>
          <a:solidFill>
            <a:srgbClr val="F8F9FA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>
            <a:off x="5303520" y="4544568"/>
            <a:ext cx="1463040" cy="594360"/>
          </a:xfrm>
          <a:prstGeom prst="rect">
            <a:avLst/>
          </a:prstGeom>
          <a:solidFill>
            <a:srgbClr val="F8F9FA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71" name="Shape 69"/>
          <p:cNvSpPr/>
          <p:nvPr/>
        </p:nvSpPr>
        <p:spPr>
          <a:xfrm>
            <a:off x="6766560" y="4544568"/>
            <a:ext cx="1920240" cy="594360"/>
          </a:xfrm>
          <a:prstGeom prst="rect">
            <a:avLst/>
          </a:prstGeom>
          <a:solidFill>
            <a:srgbClr val="F8F9FA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72" name="Shape 70"/>
          <p:cNvSpPr/>
          <p:nvPr/>
        </p:nvSpPr>
        <p:spPr>
          <a:xfrm>
            <a:off x="457200" y="4544568"/>
            <a:ext cx="1463040" cy="594360"/>
          </a:xfrm>
          <a:prstGeom prst="rect">
            <a:avLst/>
          </a:prstGeom>
          <a:solidFill>
            <a:srgbClr val="F8F9FA"/>
          </a:solidFill>
          <a:ln/>
        </p:spPr>
      </p:sp>
      <p:sp>
        <p:nvSpPr>
          <p:cNvPr id="73" name="Shape 71"/>
          <p:cNvSpPr/>
          <p:nvPr/>
        </p:nvSpPr>
        <p:spPr>
          <a:xfrm>
            <a:off x="457200" y="4544568"/>
            <a:ext cx="54864" cy="594360"/>
          </a:xfrm>
          <a:prstGeom prst="rect">
            <a:avLst/>
          </a:prstGeom>
          <a:solidFill>
            <a:srgbClr val="E63946"/>
          </a:solidFill>
          <a:ln/>
        </p:spPr>
      </p:sp>
      <p:sp>
        <p:nvSpPr>
          <p:cNvPr id="74" name="Text 72"/>
          <p:cNvSpPr/>
          <p:nvPr/>
        </p:nvSpPr>
        <p:spPr>
          <a:xfrm>
            <a:off x="548640" y="4544568"/>
            <a:ext cx="1371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reg_link</a:t>
            </a:r>
            <a:endParaRPr lang="en-US" sz="950" dirty="0"/>
          </a:p>
        </p:txBody>
      </p:sp>
      <p:sp>
        <p:nvSpPr>
          <p:cNvPr id="75" name="Text 73"/>
          <p:cNvSpPr/>
          <p:nvPr/>
        </p:nvSpPr>
        <p:spPr>
          <a:xfrm>
            <a:off x="1965960" y="4544568"/>
            <a:ext cx="1645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2D374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Explicit mention: auto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2D374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Content inference: risky</a:t>
            </a:r>
            <a:endParaRPr lang="en-US" sz="750" dirty="0"/>
          </a:p>
        </p:txBody>
      </p:sp>
      <p:sp>
        <p:nvSpPr>
          <p:cNvPr id="76" name="Text 74"/>
          <p:cNvSpPr/>
          <p:nvPr/>
        </p:nvSpPr>
        <p:spPr>
          <a:xfrm>
            <a:off x="3657600" y="4544568"/>
            <a:ext cx="1645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Semi-Auto</a:t>
            </a:r>
            <a:endParaRPr lang="en-US" sz="850" dirty="0"/>
          </a:p>
          <a:p>
            <a:pPr algn="ctr" indent="0" marL="0">
              <a:buNone/>
            </a:pPr>
            <a:r>
              <a:rPr lang="en-US" sz="850" b="1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(human confirm)</a:t>
            </a:r>
            <a:endParaRPr lang="en-US" sz="850" dirty="0"/>
          </a:p>
        </p:txBody>
      </p:sp>
      <p:sp>
        <p:nvSpPr>
          <p:cNvPr id="77" name="Text 75"/>
          <p:cNvSpPr/>
          <p:nvPr/>
        </p:nvSpPr>
        <p:spPr>
          <a:xfrm>
            <a:off x="5303520" y="4544568"/>
            <a:ext cx="1463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(changes priority!)</a:t>
            </a:r>
            <a:endParaRPr lang="en-US" sz="800" dirty="0"/>
          </a:p>
        </p:txBody>
      </p:sp>
      <p:sp>
        <p:nvSpPr>
          <p:cNvPr id="78" name="Text 76"/>
          <p:cNvSpPr/>
          <p:nvPr/>
        </p:nvSpPr>
        <p:spPr>
          <a:xfrm>
            <a:off x="6812280" y="4544568"/>
            <a:ext cx="1828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2D374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False positive → Level 5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2D374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becomes Level 1. Dangerous.</a:t>
            </a:r>
            <a:endParaRPr lang="en-US" sz="750" dirty="0"/>
          </a:p>
        </p:txBody>
      </p:sp>
      <p:sp>
        <p:nvSpPr>
          <p:cNvPr id="79" name="Shape 77"/>
          <p:cNvSpPr/>
          <p:nvPr/>
        </p:nvSpPr>
        <p:spPr>
          <a:xfrm>
            <a:off x="457200" y="4572000"/>
            <a:ext cx="8229600" cy="411480"/>
          </a:xfrm>
          <a:prstGeom prst="rect">
            <a:avLst/>
          </a:prstGeom>
          <a:solidFill>
            <a:srgbClr val="E8F5E9"/>
          </a:solidFill>
          <a:ln/>
        </p:spPr>
      </p:sp>
      <p:sp>
        <p:nvSpPr>
          <p:cNvPr id="80" name="Text 78"/>
          <p:cNvSpPr/>
          <p:nvPr/>
        </p:nvSpPr>
        <p:spPr>
          <a:xfrm>
            <a:off x="640080" y="4599432"/>
            <a:ext cx="7772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Recommendation: Paper should honestly state "source &amp; domain are auto; owner &amp; reg_link need human-in-the-loop." Transparency increases credibility with reviewers.</a:t>
            </a:r>
            <a:endParaRPr lang="en-US" sz="9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371600"/>
            <a:ext cx="77724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Part 3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731520" y="2743200"/>
            <a:ext cx="7772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2: Policy Formalization (§3.3)</a:t>
            </a:r>
            <a:endParaRPr lang="en-US" sz="16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0" y="1645920"/>
            <a:ext cx="731520" cy="73152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31520" y="329184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Converting extracted policies into verifiable and executable representations</a:t>
            </a:r>
            <a:endParaRPr lang="en-US" sz="13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228600"/>
            <a:ext cx="1645920" cy="292608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228600"/>
            <a:ext cx="1645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FORMALIZATION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6400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Verifiable Representations: Logic Rules &amp; Constraint Specs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457200" y="1280160"/>
            <a:ext cx="8229600" cy="457200"/>
          </a:xfrm>
          <a:prstGeom prst="rect">
            <a:avLst/>
          </a:prstGeom>
          <a:solidFill>
            <a:srgbClr val="E0F2F1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128016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Purpose: Input to the Z3 SMT solver for mathematically verifying logical conflicts between policies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57200" y="1920240"/>
            <a:ext cx="3931920" cy="1828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57200" y="1920240"/>
            <a:ext cx="54864" cy="182880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10" name="Text 8"/>
          <p:cNvSpPr/>
          <p:nvPr/>
        </p:nvSpPr>
        <p:spPr>
          <a:xfrm>
            <a:off x="640080" y="1993392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Logic Rules (Conditional Policies)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40080" y="2286000"/>
            <a:ext cx="35661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Format: ∧i ci → a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(tier=VIP) ∧ (amount&gt;100) → free_shipping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Z3 checks whether two rules can fire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simultaneously with contradictory actions.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754880" y="1920240"/>
            <a:ext cx="3931920" cy="1828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754880" y="1920240"/>
            <a:ext cx="54864" cy="182880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14" name="Text 12"/>
          <p:cNvSpPr/>
          <p:nvPr/>
        </p:nvSpPr>
        <p:spPr>
          <a:xfrm>
            <a:off x="4937760" y="1993392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Constraint Specifications (Invariants)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937760" y="2286000"/>
            <a:ext cx="35661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Always: □(φ) — φ must always hold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E.g., "Always verify identity before access"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Never: ¬◇(ψ) — ψ must never occur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E.g., "Never disclose PII to third parties"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Z3 verifies no active policy combination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violates these global constraints.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57200" y="3977640"/>
            <a:ext cx="8229600" cy="7315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57200" y="3977640"/>
            <a:ext cx="54864" cy="731520"/>
          </a:xfrm>
          <a:prstGeom prst="rect">
            <a:avLst/>
          </a:prstGeom>
          <a:solidFill>
            <a:srgbClr val="F4A261"/>
          </a:solidFill>
          <a:ln/>
        </p:spPr>
      </p:sp>
      <p:sp>
        <p:nvSpPr>
          <p:cNvPr id="18" name="Text 16"/>
          <p:cNvSpPr/>
          <p:nvPr/>
        </p:nvSpPr>
        <p:spPr>
          <a:xfrm>
            <a:off x="640080" y="402336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Connection: These two representations are direct inputs to §3.4 Conflict Detection (SMT verification). They are also injected as explicit compliance requirements during §3.6 During-Generation.</a:t>
            </a:r>
            <a:endParaRPr lang="en-US" sz="10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228600"/>
            <a:ext cx="1645920" cy="292608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228600"/>
            <a:ext cx="1645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FORMALIZATION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6400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Extraction → Logic Rules: Conversion Flow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457200" y="1234440"/>
            <a:ext cx="8229600" cy="640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57200" y="1234440"/>
            <a:ext cx="54864" cy="64008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123444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Original Policy Text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640080" y="146304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E86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Customers</a:t>
            </a:r>
            <a:pPr indent="0" marL="0">
              <a:buNone/>
            </a:pPr>
            <a:r>
              <a:rPr lang="en-US" sz="10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may return items within </a:t>
            </a:r>
            <a:pPr indent="0" marL="0">
              <a:buNone/>
            </a:pPr>
            <a:r>
              <a:rPr lang="en-US" sz="10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days</a:t>
            </a:r>
            <a:pPr indent="0" marL="0">
              <a:buNone/>
            </a:pPr>
            <a:r>
              <a:rPr lang="en-US" sz="10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for a </a:t>
            </a:r>
            <a:pPr indent="0" marL="0">
              <a:buNone/>
            </a:pPr>
            <a:r>
              <a:rPr lang="en-US" sz="1000" b="1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refund</a:t>
            </a:r>
            <a:pPr indent="0" marL="0">
              <a:buNone/>
            </a:pPr>
            <a:r>
              <a:rPr lang="en-US" sz="10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</a:t>
            </a:r>
            <a:pPr indent="0" marL="0">
              <a:buNone/>
            </a:pPr>
            <a:r>
              <a:rPr lang="en-US" sz="100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Electronics</a:t>
            </a:r>
            <a:pPr indent="0" marL="0">
              <a:buNone/>
            </a:pPr>
            <a:r>
              <a:rPr lang="en-US" sz="10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must be returned within </a:t>
            </a:r>
            <a:pPr indent="0" marL="0">
              <a:buNone/>
            </a:pPr>
            <a:r>
              <a:rPr lang="en-US" sz="100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days</a:t>
            </a:r>
            <a:pPr indent="0" marL="0">
              <a:buNone/>
            </a:pPr>
            <a:r>
              <a:rPr lang="en-US" sz="10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Without receipt → </a:t>
            </a:r>
            <a:pPr indent="0" marL="0">
              <a:buNone/>
            </a:pPr>
            <a:r>
              <a:rPr lang="en-US" sz="1000" b="1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 credit</a:t>
            </a:r>
            <a:pPr indent="0" marL="0">
              <a:buNone/>
            </a:pPr>
            <a:r>
              <a:rPr lang="en-US" sz="10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only.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57200" y="19202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  Pass 3 extracts components  +  Pass 4 extracts values (30, 15, electronics...)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457200" y="2240280"/>
            <a:ext cx="1965960" cy="1188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57200" y="2240280"/>
            <a:ext cx="1965960" cy="274320"/>
          </a:xfrm>
          <a:prstGeom prst="rect">
            <a:avLst/>
          </a:prstGeom>
          <a:solidFill>
            <a:srgbClr val="2E86C1"/>
          </a:solidFill>
          <a:ln/>
        </p:spPr>
      </p:sp>
      <p:sp>
        <p:nvSpPr>
          <p:cNvPr id="13" name="Text 11"/>
          <p:cNvSpPr/>
          <p:nvPr/>
        </p:nvSpPr>
        <p:spPr>
          <a:xfrm>
            <a:off x="457200" y="2240280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scope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548640" y="2560320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customers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548640" y="2926080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i="1" dirty="0">
                <a:solidFill>
                  <a:srgbClr val="2E86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domain range</a:t>
            </a:r>
            <a:endParaRPr lang="en-US" sz="800" dirty="0"/>
          </a:p>
          <a:p>
            <a:pPr indent="0" marL="0">
              <a:buNone/>
            </a:pPr>
            <a:r>
              <a:rPr lang="en-US" sz="800" i="1" dirty="0">
                <a:solidFill>
                  <a:srgbClr val="2E86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rule left-side</a:t>
            </a:r>
            <a:endParaRPr lang="en-US" sz="800" dirty="0"/>
          </a:p>
          <a:p>
            <a:pPr indent="0" marL="0">
              <a:buNone/>
            </a:pPr>
            <a:r>
              <a:rPr lang="en-US" sz="800" i="1" dirty="0">
                <a:solidFill>
                  <a:srgbClr val="2E86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boundary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2606040" y="2240280"/>
            <a:ext cx="1965960" cy="1188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2606040" y="2240280"/>
            <a:ext cx="1965960" cy="27432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18" name="Text 16"/>
          <p:cNvSpPr/>
          <p:nvPr/>
        </p:nvSpPr>
        <p:spPr>
          <a:xfrm>
            <a:off x="2606040" y="2240280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conditions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2697480" y="2560320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days, receipt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required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2697480" y="2926080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rule left-side</a:t>
            </a:r>
            <a:endParaRPr lang="en-US" sz="800" dirty="0"/>
          </a:p>
          <a:p>
            <a:pPr indent="0" marL="0">
              <a:buNone/>
            </a:pPr>
            <a:r>
              <a:rPr lang="en-US" sz="80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∧(cond1)∧(cond2)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>
            <a:off x="4754880" y="2240280"/>
            <a:ext cx="1965960" cy="1188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754880" y="2240280"/>
            <a:ext cx="1965960" cy="274320"/>
          </a:xfrm>
          <a:prstGeom prst="rect">
            <a:avLst/>
          </a:prstGeom>
          <a:solidFill>
            <a:srgbClr val="E63946"/>
          </a:solidFill>
          <a:ln/>
        </p:spPr>
      </p:sp>
      <p:sp>
        <p:nvSpPr>
          <p:cNvPr id="23" name="Text 21"/>
          <p:cNvSpPr/>
          <p:nvPr/>
        </p:nvSpPr>
        <p:spPr>
          <a:xfrm>
            <a:off x="4754880" y="2240280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actions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4846320" y="2560320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refund,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 credit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4846320" y="2926080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i="1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rule right-side</a:t>
            </a:r>
            <a:endParaRPr lang="en-US" sz="800" dirty="0"/>
          </a:p>
          <a:p>
            <a:pPr indent="0" marL="0">
              <a:buNone/>
            </a:pPr>
            <a:r>
              <a:rPr lang="en-US" sz="800" i="1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the conclusion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6903720" y="2240280"/>
            <a:ext cx="1965960" cy="1188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6903720" y="2240280"/>
            <a:ext cx="1965960" cy="274320"/>
          </a:xfrm>
          <a:prstGeom prst="rect">
            <a:avLst/>
          </a:prstGeom>
          <a:solidFill>
            <a:srgbClr val="F4A261"/>
          </a:solidFill>
          <a:ln/>
        </p:spPr>
      </p:sp>
      <p:sp>
        <p:nvSpPr>
          <p:cNvPr id="28" name="Text 26"/>
          <p:cNvSpPr/>
          <p:nvPr/>
        </p:nvSpPr>
        <p:spPr>
          <a:xfrm>
            <a:off x="6903720" y="2240280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exceptions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6995160" y="2560320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Electronics: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15-day override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6995160" y="2926080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i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spawns a</a:t>
            </a:r>
            <a:endParaRPr lang="en-US" sz="800" dirty="0"/>
          </a:p>
          <a:p>
            <a:pPr indent="0" marL="0">
              <a:buNone/>
            </a:pPr>
            <a:r>
              <a:rPr lang="en-US" sz="800" i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separate rule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457200" y="352044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  LLM converts components + entity values into first-order logic (§3.3)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457200" y="3794760"/>
            <a:ext cx="2743200" cy="10972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502920" y="3813048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 1: General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548640" y="4023360"/>
            <a:ext cx="2560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2E86C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(cat ≠ electronics)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1C729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∧ (days ≤ 30)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1C729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∧ (receipt = true)</a:t>
            </a:r>
            <a:endParaRPr lang="en-US" sz="800" dirty="0"/>
          </a:p>
          <a:p>
            <a:pPr indent="0" marL="0">
              <a:buNone/>
            </a:pPr>
            <a:r>
              <a:rPr lang="en-US" sz="800" b="1" dirty="0">
                <a:solidFill>
                  <a:srgbClr val="E6394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full_refund</a:t>
            </a:r>
            <a:endParaRPr lang="en-US" sz="800" dirty="0"/>
          </a:p>
        </p:txBody>
      </p:sp>
      <p:sp>
        <p:nvSpPr>
          <p:cNvPr id="35" name="Shape 33"/>
          <p:cNvSpPr/>
          <p:nvPr/>
        </p:nvSpPr>
        <p:spPr>
          <a:xfrm>
            <a:off x="3337560" y="3794760"/>
            <a:ext cx="2743200" cy="10972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36" name="Text 34"/>
          <p:cNvSpPr/>
          <p:nvPr/>
        </p:nvSpPr>
        <p:spPr>
          <a:xfrm>
            <a:off x="3383280" y="3813048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 2: Exception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3429000" y="4023360"/>
            <a:ext cx="2560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4A2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(cat = electronics)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F4A2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∧ (days ≤ 15)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1C729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∧ (receipt = true)</a:t>
            </a:r>
            <a:endParaRPr lang="en-US" sz="800" dirty="0"/>
          </a:p>
          <a:p>
            <a:pPr indent="0" marL="0">
              <a:buNone/>
            </a:pPr>
            <a:r>
              <a:rPr lang="en-US" sz="800" b="1" dirty="0">
                <a:solidFill>
                  <a:srgbClr val="E6394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full_refund</a:t>
            </a:r>
            <a:endParaRPr lang="en-US" sz="800" dirty="0"/>
          </a:p>
        </p:txBody>
      </p:sp>
      <p:sp>
        <p:nvSpPr>
          <p:cNvPr id="38" name="Shape 36"/>
          <p:cNvSpPr/>
          <p:nvPr/>
        </p:nvSpPr>
        <p:spPr>
          <a:xfrm>
            <a:off x="6217920" y="3794760"/>
            <a:ext cx="2468880" cy="10972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39" name="Text 37"/>
          <p:cNvSpPr/>
          <p:nvPr/>
        </p:nvSpPr>
        <p:spPr>
          <a:xfrm>
            <a:off x="6263640" y="3813048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 3: No receipt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6309360" y="4023360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C729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(receipt = false)</a:t>
            </a:r>
            <a:endParaRPr lang="en-US" sz="800" dirty="0"/>
          </a:p>
          <a:p>
            <a:pPr indent="0" marL="0">
              <a:buNone/>
            </a:pPr>
            <a:r>
              <a:rPr lang="en-US" sz="800" b="1" dirty="0">
                <a:solidFill>
                  <a:srgbClr val="E6394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store_credit</a:t>
            </a:r>
            <a:endParaRPr lang="en-US" sz="8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228600"/>
            <a:ext cx="1645920" cy="292608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228600"/>
            <a:ext cx="1645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FORMALIZATION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6400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Procedural Representation: Decision Graphs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457200" y="1280160"/>
            <a:ext cx="3931920" cy="1371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57200" y="1280160"/>
            <a:ext cx="54864" cy="1371600"/>
          </a:xfrm>
          <a:prstGeom prst="rect">
            <a:avLst/>
          </a:prstGeom>
          <a:solidFill>
            <a:srgbClr val="E63946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1353312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Aren't Logic Rules Sufficient?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40080" y="1645920"/>
            <a:ext cx="3566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5-level binary workflow → 32 flat rules (rule explosion)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Sequential structure is lost → LLM skips intermediate steps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Multi-step procedures are represented as DAGs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(directed acyclic graphs)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754880" y="1280160"/>
            <a:ext cx="3931920" cy="1371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92040" y="13258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 Refund Policy Decision Graph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892040" y="1645920"/>
            <a:ext cx="3657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D374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[Receipt?] → Yes: [≤30d?] → Y: Full Refund / N: Mgr Approval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2D374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[Receipt?] → No:  [≤$50?] → Y: Store Credit / N: Reject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2D374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Fixed (offline): All 4 paths built at design time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2D374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Dynamic (runtime): Only traversal path varies per query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457200" y="2880360"/>
            <a:ext cx="8229600" cy="1005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57200" y="2880360"/>
            <a:ext cx="54864" cy="1005840"/>
          </a:xfrm>
          <a:prstGeom prst="rect">
            <a:avLst/>
          </a:prstGeom>
          <a:solidFill>
            <a:srgbClr val="1C7293"/>
          </a:solidFill>
          <a:ln/>
        </p:spPr>
      </p:sp>
      <p:pic>
        <p:nvPicPr>
          <p:cNvPr id="1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1792" y="3017520"/>
            <a:ext cx="320040" cy="320040"/>
          </a:xfrm>
          <a:prstGeom prst="rect">
            <a:avLst/>
          </a:prstGeom>
        </p:spPr>
      </p:pic>
      <p:sp>
        <p:nvSpPr>
          <p:cNvPr id="16" name="Text 13"/>
          <p:cNvSpPr/>
          <p:nvPr/>
        </p:nvSpPr>
        <p:spPr>
          <a:xfrm>
            <a:off x="1051560" y="2953512"/>
            <a:ext cx="7452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Downstream Usage — Runtime Enforcement (§3.6)</a:t>
            </a:r>
            <a:endParaRPr lang="en-US" sz="1300" dirty="0"/>
          </a:p>
        </p:txBody>
      </p:sp>
      <p:sp>
        <p:nvSpPr>
          <p:cNvPr id="17" name="Text 14"/>
          <p:cNvSpPr/>
          <p:nvPr/>
        </p:nvSpPr>
        <p:spPr>
          <a:xfrm>
            <a:off x="1051560" y="3246120"/>
            <a:ext cx="7452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During-Generation: Serialized as step-by-step Chain-of-Thought scaffolds (Wei et al., 2022)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Guides the LLM through each decision node sequentially — prevents skipping intermediate steps.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Post-Generation: Queries outside defined paths → low compliance score → escalation to policy owner.</a:t>
            </a:r>
            <a:endParaRPr lang="en-US" sz="1100" dirty="0"/>
          </a:p>
        </p:txBody>
      </p:sp>
      <p:sp>
        <p:nvSpPr>
          <p:cNvPr id="18" name="Shape 15"/>
          <p:cNvSpPr/>
          <p:nvPr/>
        </p:nvSpPr>
        <p:spPr>
          <a:xfrm>
            <a:off x="457200" y="4114800"/>
            <a:ext cx="8229600" cy="640080"/>
          </a:xfrm>
          <a:prstGeom prst="rect">
            <a:avLst/>
          </a:prstGeom>
          <a:solidFill>
            <a:srgbClr val="FFF8E1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pic>
        <p:nvPicPr>
          <p:cNvPr id="1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4206240"/>
            <a:ext cx="320040" cy="320040"/>
          </a:xfrm>
          <a:prstGeom prst="rect">
            <a:avLst/>
          </a:prstGeom>
        </p:spPr>
      </p:pic>
      <p:sp>
        <p:nvSpPr>
          <p:cNvPr id="20" name="Text 16"/>
          <p:cNvSpPr/>
          <p:nvPr/>
        </p:nvSpPr>
        <p:spPr>
          <a:xfrm>
            <a:off x="1005840" y="4160520"/>
            <a:ext cx="7498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design decision: Uncovered cases trigger escalation, not guessing. Detecting policy gaps is itself a valuable system output.</a:t>
            </a:r>
            <a:endParaRPr lang="en-US" sz="10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228600"/>
            <a:ext cx="1645920" cy="292608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228600"/>
            <a:ext cx="1645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FORMALIZATION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6400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Why DAGs? Flat Rules vs. Decision Graph Comparison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457200" y="1234440"/>
            <a:ext cx="3931920" cy="37947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57200" y="1234440"/>
            <a:ext cx="3931920" cy="347472"/>
          </a:xfrm>
          <a:prstGeom prst="rect">
            <a:avLst/>
          </a:prstGeom>
          <a:solidFill>
            <a:srgbClr val="E63946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1234440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Flat Rules: 3-level binary → 8 rules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94360" y="1691640"/>
            <a:ext cx="3611880" cy="237744"/>
          </a:xfrm>
          <a:prstGeom prst="rect">
            <a:avLst/>
          </a:prstGeom>
          <a:solidFill>
            <a:srgbClr val="F7FAFC"/>
          </a:solidFill>
          <a:ln/>
        </p:spPr>
      </p:sp>
      <p:sp>
        <p:nvSpPr>
          <p:cNvPr id="10" name="Text 8"/>
          <p:cNvSpPr/>
          <p:nvPr/>
        </p:nvSpPr>
        <p:spPr>
          <a:xfrm>
            <a:off x="640080" y="1691640"/>
            <a:ext cx="3520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2D374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R1: receipt=Y ∧ days≤30 ∧ amt≤$50  → full_refund</a:t>
            </a:r>
            <a:endParaRPr lang="en-US" sz="750" dirty="0"/>
          </a:p>
        </p:txBody>
      </p:sp>
      <p:sp>
        <p:nvSpPr>
          <p:cNvPr id="11" name="Shape 9"/>
          <p:cNvSpPr/>
          <p:nvPr/>
        </p:nvSpPr>
        <p:spPr>
          <a:xfrm>
            <a:off x="594360" y="1965960"/>
            <a:ext cx="3611880" cy="237744"/>
          </a:xfrm>
          <a:prstGeom prst="rect">
            <a:avLst/>
          </a:prstGeom>
          <a:solidFill>
            <a:srgbClr val="F0F4F8"/>
          </a:solidFill>
          <a:ln/>
        </p:spPr>
      </p:sp>
      <p:sp>
        <p:nvSpPr>
          <p:cNvPr id="12" name="Text 10"/>
          <p:cNvSpPr/>
          <p:nvPr/>
        </p:nvSpPr>
        <p:spPr>
          <a:xfrm>
            <a:off x="640080" y="1965960"/>
            <a:ext cx="3520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2D374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R2: receipt=Y ∧ days≤30 ∧ amt&gt;$50  → full_refund</a:t>
            </a:r>
            <a:endParaRPr lang="en-US" sz="750" dirty="0"/>
          </a:p>
        </p:txBody>
      </p:sp>
      <p:sp>
        <p:nvSpPr>
          <p:cNvPr id="13" name="Shape 11"/>
          <p:cNvSpPr/>
          <p:nvPr/>
        </p:nvSpPr>
        <p:spPr>
          <a:xfrm>
            <a:off x="594360" y="2240280"/>
            <a:ext cx="3611880" cy="237744"/>
          </a:xfrm>
          <a:prstGeom prst="rect">
            <a:avLst/>
          </a:prstGeom>
          <a:solidFill>
            <a:srgbClr val="F7FAFC"/>
          </a:solidFill>
          <a:ln/>
        </p:spPr>
      </p:sp>
      <p:sp>
        <p:nvSpPr>
          <p:cNvPr id="14" name="Text 12"/>
          <p:cNvSpPr/>
          <p:nvPr/>
        </p:nvSpPr>
        <p:spPr>
          <a:xfrm>
            <a:off x="640080" y="2240280"/>
            <a:ext cx="3520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2D374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R3: receipt=Y ∧ days&gt;30 ∧ amt≤$50  → mgr_approval</a:t>
            </a:r>
            <a:endParaRPr lang="en-US" sz="750" dirty="0"/>
          </a:p>
        </p:txBody>
      </p:sp>
      <p:sp>
        <p:nvSpPr>
          <p:cNvPr id="15" name="Shape 13"/>
          <p:cNvSpPr/>
          <p:nvPr/>
        </p:nvSpPr>
        <p:spPr>
          <a:xfrm>
            <a:off x="594360" y="2514600"/>
            <a:ext cx="3611880" cy="237744"/>
          </a:xfrm>
          <a:prstGeom prst="rect">
            <a:avLst/>
          </a:prstGeom>
          <a:solidFill>
            <a:srgbClr val="F0F4F8"/>
          </a:solidFill>
          <a:ln/>
        </p:spPr>
      </p:sp>
      <p:sp>
        <p:nvSpPr>
          <p:cNvPr id="16" name="Text 14"/>
          <p:cNvSpPr/>
          <p:nvPr/>
        </p:nvSpPr>
        <p:spPr>
          <a:xfrm>
            <a:off x="640080" y="2514600"/>
            <a:ext cx="3520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2D374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R4: receipt=Y ∧ days&gt;30 ∧ amt&gt;$50  → mgr_approval</a:t>
            </a:r>
            <a:endParaRPr lang="en-US" sz="750" dirty="0"/>
          </a:p>
        </p:txBody>
      </p:sp>
      <p:sp>
        <p:nvSpPr>
          <p:cNvPr id="17" name="Shape 15"/>
          <p:cNvSpPr/>
          <p:nvPr/>
        </p:nvSpPr>
        <p:spPr>
          <a:xfrm>
            <a:off x="594360" y="2788920"/>
            <a:ext cx="3611880" cy="237744"/>
          </a:xfrm>
          <a:prstGeom prst="rect">
            <a:avLst/>
          </a:prstGeom>
          <a:solidFill>
            <a:srgbClr val="F7FAFC"/>
          </a:solidFill>
          <a:ln/>
        </p:spPr>
      </p:sp>
      <p:sp>
        <p:nvSpPr>
          <p:cNvPr id="18" name="Text 16"/>
          <p:cNvSpPr/>
          <p:nvPr/>
        </p:nvSpPr>
        <p:spPr>
          <a:xfrm>
            <a:off x="640080" y="2788920"/>
            <a:ext cx="3520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2D374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R5: receipt=N ∧ days≤30 ∧ amt≤$50  → store_credit</a:t>
            </a:r>
            <a:endParaRPr lang="en-US" sz="750" dirty="0"/>
          </a:p>
        </p:txBody>
      </p:sp>
      <p:sp>
        <p:nvSpPr>
          <p:cNvPr id="19" name="Shape 17"/>
          <p:cNvSpPr/>
          <p:nvPr/>
        </p:nvSpPr>
        <p:spPr>
          <a:xfrm>
            <a:off x="594360" y="3063240"/>
            <a:ext cx="3611880" cy="237744"/>
          </a:xfrm>
          <a:prstGeom prst="rect">
            <a:avLst/>
          </a:prstGeom>
          <a:solidFill>
            <a:srgbClr val="F0F4F8"/>
          </a:solidFill>
          <a:ln/>
        </p:spPr>
      </p:sp>
      <p:sp>
        <p:nvSpPr>
          <p:cNvPr id="20" name="Text 18"/>
          <p:cNvSpPr/>
          <p:nvPr/>
        </p:nvSpPr>
        <p:spPr>
          <a:xfrm>
            <a:off x="640080" y="3063240"/>
            <a:ext cx="3520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2D374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R6: receipt=N ∧ days≤30 ∧ amt&gt;$50  → reject</a:t>
            </a:r>
            <a:endParaRPr lang="en-US" sz="750" dirty="0"/>
          </a:p>
        </p:txBody>
      </p:sp>
      <p:sp>
        <p:nvSpPr>
          <p:cNvPr id="21" name="Shape 19"/>
          <p:cNvSpPr/>
          <p:nvPr/>
        </p:nvSpPr>
        <p:spPr>
          <a:xfrm>
            <a:off x="594360" y="3337560"/>
            <a:ext cx="3611880" cy="237744"/>
          </a:xfrm>
          <a:prstGeom prst="rect">
            <a:avLst/>
          </a:prstGeom>
          <a:solidFill>
            <a:srgbClr val="F7FAFC"/>
          </a:solidFill>
          <a:ln/>
        </p:spPr>
      </p:sp>
      <p:sp>
        <p:nvSpPr>
          <p:cNvPr id="22" name="Text 20"/>
          <p:cNvSpPr/>
          <p:nvPr/>
        </p:nvSpPr>
        <p:spPr>
          <a:xfrm>
            <a:off x="640080" y="3337560"/>
            <a:ext cx="3520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2D374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R7: receipt=N ∧ days&gt;30 ∧ amt≤$50  → store_credit</a:t>
            </a:r>
            <a:endParaRPr lang="en-US" sz="750" dirty="0"/>
          </a:p>
        </p:txBody>
      </p:sp>
      <p:sp>
        <p:nvSpPr>
          <p:cNvPr id="23" name="Shape 21"/>
          <p:cNvSpPr/>
          <p:nvPr/>
        </p:nvSpPr>
        <p:spPr>
          <a:xfrm>
            <a:off x="594360" y="3611880"/>
            <a:ext cx="3611880" cy="237744"/>
          </a:xfrm>
          <a:prstGeom prst="rect">
            <a:avLst/>
          </a:prstGeom>
          <a:solidFill>
            <a:srgbClr val="F0F4F8"/>
          </a:solidFill>
          <a:ln/>
        </p:spPr>
      </p:sp>
      <p:sp>
        <p:nvSpPr>
          <p:cNvPr id="24" name="Text 22"/>
          <p:cNvSpPr/>
          <p:nvPr/>
        </p:nvSpPr>
        <p:spPr>
          <a:xfrm>
            <a:off x="640080" y="3611880"/>
            <a:ext cx="3520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2D374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R8: receipt=N ∧ days&gt;30 ∧ amt&gt;$50  → reject</a:t>
            </a:r>
            <a:endParaRPr lang="en-US" sz="750" dirty="0"/>
          </a:p>
        </p:txBody>
      </p:sp>
      <p:sp>
        <p:nvSpPr>
          <p:cNvPr id="25" name="Shape 23"/>
          <p:cNvSpPr/>
          <p:nvPr/>
        </p:nvSpPr>
        <p:spPr>
          <a:xfrm>
            <a:off x="594360" y="3931920"/>
            <a:ext cx="3611880" cy="960120"/>
          </a:xfrm>
          <a:prstGeom prst="rect">
            <a:avLst/>
          </a:prstGeom>
          <a:solidFill>
            <a:srgbClr val="FFF0F0"/>
          </a:solidFill>
          <a:ln/>
        </p:spPr>
      </p:sp>
      <p:sp>
        <p:nvSpPr>
          <p:cNvPr id="26" name="Text 24"/>
          <p:cNvSpPr/>
          <p:nvPr/>
        </p:nvSpPr>
        <p:spPr>
          <a:xfrm>
            <a:off x="640080" y="3950208"/>
            <a:ext cx="3520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Problems:</a:t>
            </a:r>
            <a:endParaRPr lang="en-US" sz="900" dirty="0"/>
          </a:p>
          <a:p>
            <a:pPr indent="0" marL="0">
              <a:buNone/>
            </a:pPr>
            <a:r>
              <a:rPr lang="en-US" sz="8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5 levels × 2 branches = 2⁵ = 32 rules</a:t>
            </a:r>
            <a:endParaRPr lang="en-US" sz="900" dirty="0"/>
          </a:p>
          <a:p>
            <a:pPr indent="0" marL="0">
              <a:buNone/>
            </a:pPr>
            <a:r>
              <a:rPr lang="en-US" sz="8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No order info — LLM sees all rules at once</a:t>
            </a:r>
            <a:endParaRPr lang="en-US" sz="900" dirty="0"/>
          </a:p>
          <a:p>
            <a:pPr indent="0" marL="0">
              <a:buNone/>
            </a:pPr>
            <a:r>
              <a:rPr lang="en-US" sz="8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"Check receipt first, then date" is lost</a:t>
            </a:r>
            <a:endParaRPr lang="en-US" sz="900" dirty="0"/>
          </a:p>
          <a:p>
            <a:pPr indent="0" marL="0">
              <a:buNone/>
            </a:pPr>
            <a:r>
              <a:rPr lang="en-US" sz="8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Adding 1 new condition → doubles rule count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4206240" y="2560320"/>
            <a:ext cx="640080" cy="457200"/>
          </a:xfrm>
          <a:prstGeom prst="rect">
            <a:avLst/>
          </a:prstGeom>
          <a:solidFill>
            <a:srgbClr val="E63946"/>
          </a:solidFill>
          <a:ln/>
        </p:spPr>
      </p:sp>
      <p:sp>
        <p:nvSpPr>
          <p:cNvPr id="28" name="Text 26"/>
          <p:cNvSpPr/>
          <p:nvPr/>
        </p:nvSpPr>
        <p:spPr>
          <a:xfrm>
            <a:off x="4206240" y="2560320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VS</a:t>
            </a:r>
            <a:endParaRPr lang="en-US" sz="1400" dirty="0"/>
          </a:p>
        </p:txBody>
      </p:sp>
      <p:sp>
        <p:nvSpPr>
          <p:cNvPr id="29" name="Shape 27"/>
          <p:cNvSpPr/>
          <p:nvPr/>
        </p:nvSpPr>
        <p:spPr>
          <a:xfrm>
            <a:off x="4663440" y="1234440"/>
            <a:ext cx="4023360" cy="37947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4663440" y="1234440"/>
            <a:ext cx="4023360" cy="347472"/>
          </a:xfrm>
          <a:prstGeom prst="rect">
            <a:avLst/>
          </a:prstGeom>
          <a:solidFill>
            <a:srgbClr val="2D9F5A"/>
          </a:solidFill>
          <a:ln/>
        </p:spPr>
      </p:sp>
      <p:sp>
        <p:nvSpPr>
          <p:cNvPr id="31" name="Text 29"/>
          <p:cNvSpPr/>
          <p:nvPr/>
        </p:nvSpPr>
        <p:spPr>
          <a:xfrm>
            <a:off x="4754880" y="1234440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Graph: Same logic, 7 nodes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6035040" y="1737360"/>
            <a:ext cx="1371600" cy="36576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33" name="Text 31"/>
          <p:cNvSpPr/>
          <p:nvPr/>
        </p:nvSpPr>
        <p:spPr>
          <a:xfrm>
            <a:off x="6035040" y="173736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Receipt?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5212080" y="214884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D9F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7680960" y="214884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</a:t>
            </a:r>
            <a:endParaRPr lang="en-US" sz="800" dirty="0"/>
          </a:p>
        </p:txBody>
      </p:sp>
      <p:sp>
        <p:nvSpPr>
          <p:cNvPr id="36" name="Shape 34"/>
          <p:cNvSpPr/>
          <p:nvPr/>
        </p:nvSpPr>
        <p:spPr>
          <a:xfrm>
            <a:off x="4937760" y="2377440"/>
            <a:ext cx="1280160" cy="36576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37" name="Text 35"/>
          <p:cNvSpPr/>
          <p:nvPr/>
        </p:nvSpPr>
        <p:spPr>
          <a:xfrm>
            <a:off x="4937760" y="2377440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≤30 days?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7223760" y="2377440"/>
            <a:ext cx="1280160" cy="36576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39" name="Text 37"/>
          <p:cNvSpPr/>
          <p:nvPr/>
        </p:nvSpPr>
        <p:spPr>
          <a:xfrm>
            <a:off x="7223760" y="2377440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≤$50?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4754880" y="2971800"/>
            <a:ext cx="1005840" cy="320040"/>
          </a:xfrm>
          <a:prstGeom prst="rect">
            <a:avLst/>
          </a:prstGeom>
          <a:solidFill>
            <a:srgbClr val="E8F5E9"/>
          </a:solidFill>
          <a:ln/>
        </p:spPr>
      </p:sp>
      <p:sp>
        <p:nvSpPr>
          <p:cNvPr id="41" name="Text 39"/>
          <p:cNvSpPr/>
          <p:nvPr/>
        </p:nvSpPr>
        <p:spPr>
          <a:xfrm>
            <a:off x="4754880" y="2971800"/>
            <a:ext cx="1005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D9F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Refund</a:t>
            </a:r>
            <a:endParaRPr lang="en-US" sz="800" dirty="0"/>
          </a:p>
        </p:txBody>
      </p:sp>
      <p:sp>
        <p:nvSpPr>
          <p:cNvPr id="42" name="Text 40"/>
          <p:cNvSpPr/>
          <p:nvPr/>
        </p:nvSpPr>
        <p:spPr>
          <a:xfrm>
            <a:off x="4892040" y="2761488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2D9F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</a:t>
            </a:r>
            <a:endParaRPr lang="en-US" sz="700" dirty="0"/>
          </a:p>
        </p:txBody>
      </p:sp>
      <p:sp>
        <p:nvSpPr>
          <p:cNvPr id="43" name="Shape 41"/>
          <p:cNvSpPr/>
          <p:nvPr/>
        </p:nvSpPr>
        <p:spPr>
          <a:xfrm>
            <a:off x="5943600" y="2971800"/>
            <a:ext cx="1005840" cy="320040"/>
          </a:xfrm>
          <a:prstGeom prst="rect">
            <a:avLst/>
          </a:prstGeom>
          <a:solidFill>
            <a:srgbClr val="FFF8E1"/>
          </a:solidFill>
          <a:ln/>
        </p:spPr>
      </p:sp>
      <p:sp>
        <p:nvSpPr>
          <p:cNvPr id="44" name="Text 42"/>
          <p:cNvSpPr/>
          <p:nvPr/>
        </p:nvSpPr>
        <p:spPr>
          <a:xfrm>
            <a:off x="5943600" y="2971800"/>
            <a:ext cx="1005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Mgr Appr.</a:t>
            </a:r>
            <a:endParaRPr lang="en-US" sz="800" dirty="0"/>
          </a:p>
        </p:txBody>
      </p:sp>
      <p:sp>
        <p:nvSpPr>
          <p:cNvPr id="45" name="Text 43"/>
          <p:cNvSpPr/>
          <p:nvPr/>
        </p:nvSpPr>
        <p:spPr>
          <a:xfrm>
            <a:off x="6263640" y="2761488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</a:t>
            </a:r>
            <a:endParaRPr lang="en-US" sz="700" dirty="0"/>
          </a:p>
        </p:txBody>
      </p:sp>
      <p:sp>
        <p:nvSpPr>
          <p:cNvPr id="46" name="Shape 44"/>
          <p:cNvSpPr/>
          <p:nvPr/>
        </p:nvSpPr>
        <p:spPr>
          <a:xfrm>
            <a:off x="7040880" y="2971800"/>
            <a:ext cx="1005840" cy="320040"/>
          </a:xfrm>
          <a:prstGeom prst="rect">
            <a:avLst/>
          </a:prstGeom>
          <a:solidFill>
            <a:srgbClr val="E3F2FD"/>
          </a:solidFill>
          <a:ln/>
        </p:spPr>
      </p:sp>
      <p:sp>
        <p:nvSpPr>
          <p:cNvPr id="47" name="Text 45"/>
          <p:cNvSpPr/>
          <p:nvPr/>
        </p:nvSpPr>
        <p:spPr>
          <a:xfrm>
            <a:off x="7040880" y="2971800"/>
            <a:ext cx="1005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 Credit</a:t>
            </a:r>
            <a:endParaRPr lang="en-US" sz="800" dirty="0"/>
          </a:p>
        </p:txBody>
      </p:sp>
      <p:sp>
        <p:nvSpPr>
          <p:cNvPr id="48" name="Text 46"/>
          <p:cNvSpPr/>
          <p:nvPr/>
        </p:nvSpPr>
        <p:spPr>
          <a:xfrm>
            <a:off x="7269480" y="2761488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2D9F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</a:t>
            </a:r>
            <a:endParaRPr lang="en-US" sz="700" dirty="0"/>
          </a:p>
        </p:txBody>
      </p:sp>
      <p:sp>
        <p:nvSpPr>
          <p:cNvPr id="49" name="Shape 47"/>
          <p:cNvSpPr/>
          <p:nvPr/>
        </p:nvSpPr>
        <p:spPr>
          <a:xfrm>
            <a:off x="8138160" y="2971800"/>
            <a:ext cx="502920" cy="320040"/>
          </a:xfrm>
          <a:prstGeom prst="rect">
            <a:avLst/>
          </a:prstGeom>
          <a:solidFill>
            <a:srgbClr val="FFEBEE"/>
          </a:solidFill>
          <a:ln/>
        </p:spPr>
      </p:sp>
      <p:sp>
        <p:nvSpPr>
          <p:cNvPr id="50" name="Text 48"/>
          <p:cNvSpPr/>
          <p:nvPr/>
        </p:nvSpPr>
        <p:spPr>
          <a:xfrm>
            <a:off x="8138160" y="2971800"/>
            <a:ext cx="502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Reject</a:t>
            </a:r>
            <a:endParaRPr lang="en-US" sz="800" dirty="0"/>
          </a:p>
        </p:txBody>
      </p:sp>
      <p:sp>
        <p:nvSpPr>
          <p:cNvPr id="51" name="Text 49"/>
          <p:cNvSpPr/>
          <p:nvPr/>
        </p:nvSpPr>
        <p:spPr>
          <a:xfrm>
            <a:off x="8229600" y="2761488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</a:t>
            </a:r>
            <a:endParaRPr lang="en-US" sz="700" dirty="0"/>
          </a:p>
        </p:txBody>
      </p:sp>
      <p:sp>
        <p:nvSpPr>
          <p:cNvPr id="52" name="Shape 50"/>
          <p:cNvSpPr/>
          <p:nvPr/>
        </p:nvSpPr>
        <p:spPr>
          <a:xfrm>
            <a:off x="4800600" y="3520440"/>
            <a:ext cx="3749040" cy="1417320"/>
          </a:xfrm>
          <a:prstGeom prst="rect">
            <a:avLst/>
          </a:prstGeom>
          <a:solidFill>
            <a:srgbClr val="E8F5E9"/>
          </a:solidFill>
          <a:ln/>
        </p:spPr>
      </p:sp>
      <p:sp>
        <p:nvSpPr>
          <p:cNvPr id="53" name="Text 51"/>
          <p:cNvSpPr/>
          <p:nvPr/>
        </p:nvSpPr>
        <p:spPr>
          <a:xfrm>
            <a:off x="4846320" y="3538728"/>
            <a:ext cx="3657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D9F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Advantages:</a:t>
            </a:r>
            <a:endParaRPr lang="en-US" sz="900" dirty="0"/>
          </a:p>
          <a:p>
            <a:pPr indent="0" marL="0">
              <a:buNone/>
            </a:pPr>
            <a:r>
              <a:rPr lang="en-US" sz="8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7 nodes vs 8 rules (grows linearly, not 2ⁿ)</a:t>
            </a:r>
            <a:endParaRPr lang="en-US" sz="900" dirty="0"/>
          </a:p>
          <a:p>
            <a:pPr indent="0" marL="0">
              <a:buNone/>
            </a:pPr>
            <a:r>
              <a:rPr lang="en-US" sz="8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Order preserved: "check receipt → then date"</a:t>
            </a:r>
            <a:endParaRPr lang="en-US" sz="900" dirty="0"/>
          </a:p>
          <a:p>
            <a:pPr indent="0" marL="0">
              <a:buNone/>
            </a:pPr>
            <a:r>
              <a:rPr lang="en-US" sz="8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LLM follows Step 1→2→3 sequentially (CoT)</a:t>
            </a:r>
            <a:endParaRPr lang="en-US" sz="900" dirty="0"/>
          </a:p>
          <a:p>
            <a:pPr indent="0" marL="0">
              <a:buNone/>
            </a:pPr>
            <a:r>
              <a:rPr lang="en-US" sz="8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Adding 1 condition = +2 nodes, not ×2 rules</a:t>
            </a:r>
            <a:endParaRPr lang="en-US" sz="900" dirty="0"/>
          </a:p>
          <a:p>
            <a:pPr indent="0" marL="0">
              <a:buNone/>
            </a:pPr>
            <a:r>
              <a:rPr lang="en-US" sz="8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Runtime: only the relevant path is traversed</a:t>
            </a:r>
            <a:endParaRPr lang="en-US" sz="9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371600"/>
            <a:ext cx="77724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Part 4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731520" y="2743200"/>
            <a:ext cx="7772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3: Conflict Detection &amp; Resolution (§3.4)</a:t>
            </a:r>
            <a:endParaRPr lang="en-US" sz="16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0" y="1645920"/>
            <a:ext cx="731520" cy="73152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31520" y="329184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Hybrid approach: SMT logical verification + LLM semantic analysis</a:t>
            </a:r>
            <a:endParaRPr lang="en-US" sz="13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228600"/>
            <a:ext cx="1645920" cy="292608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228600"/>
            <a:ext cx="1645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CONFLICT DETECTION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6400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Design Rationale: Why Hybrid?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457200" y="1280160"/>
            <a:ext cx="8229600" cy="10972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57200" y="1280160"/>
            <a:ext cx="54864" cy="1097280"/>
          </a:xfrm>
          <a:prstGeom prst="rect">
            <a:avLst/>
          </a:prstGeom>
          <a:solidFill>
            <a:srgbClr val="E63946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1792" y="1417320"/>
            <a:ext cx="320040" cy="32004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051560" y="1353312"/>
            <a:ext cx="7452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LLM-Modulo Framework (Kambhampati, 2024)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1051560" y="1645920"/>
            <a:ext cx="7452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finding: LLMs cannot reliably self-verify. Self-critique often degrades performance through hallucinated false positives.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principle: Delegate hard logical constraints to SMT solvers; use LLM critics only for semantic evaluation.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457200" y="2606040"/>
            <a:ext cx="3931920" cy="21031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457200" y="2606040"/>
            <a:ext cx="54864" cy="2103120"/>
          </a:xfrm>
          <a:prstGeom prst="rect">
            <a:avLst/>
          </a:prstGeom>
          <a:solidFill>
            <a:srgbClr val="065A82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" y="2743200"/>
            <a:ext cx="320040" cy="32004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1051560" y="2679192"/>
            <a:ext cx="3154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SMT Verification (Z3) — Logical Conflicts</a:t>
            </a:r>
            <a:endParaRPr lang="en-US" sz="1300" dirty="0"/>
          </a:p>
        </p:txBody>
      </p:sp>
      <p:sp>
        <p:nvSpPr>
          <p:cNvPr id="15" name="Text 11"/>
          <p:cNvSpPr/>
          <p:nvPr/>
        </p:nvSpPr>
        <p:spPr>
          <a:xfrm>
            <a:off x="1051560" y="2971800"/>
            <a:ext cx="31546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SAT(cond(pi) ∧ cond(pj) ∧ (act(pi) ≠ act(pj)))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satisfiable → conflict exists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Auto-generates concrete conflict scenario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get_unsat_core() identifies minimal conflict set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Strength: Mathematical certainty, precise scenarios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Weakness: Cannot catch semantic conflicts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4754880" y="2606040"/>
            <a:ext cx="3931920" cy="21031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4754880" y="2606040"/>
            <a:ext cx="54864" cy="2103120"/>
          </a:xfrm>
          <a:prstGeom prst="rect">
            <a:avLst/>
          </a:prstGeom>
          <a:solidFill>
            <a:srgbClr val="1C7293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19472" y="2743200"/>
            <a:ext cx="320040" cy="320040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5349240" y="2679192"/>
            <a:ext cx="3154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Semantic Analysis (LLM) — Intent-Level Conflicts</a:t>
            </a:r>
            <a:endParaRPr lang="en-US" sz="1300" dirty="0"/>
          </a:p>
        </p:txBody>
      </p:sp>
      <p:sp>
        <p:nvSpPr>
          <p:cNvPr id="20" name="Text 15"/>
          <p:cNvSpPr/>
          <p:nvPr/>
        </p:nvSpPr>
        <p:spPr>
          <a:xfrm>
            <a:off x="5349240" y="2971800"/>
            <a:ext cx="31546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Compute pairwise policy embeddings (Sentence-BERT)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Filter pairs exceeding cosine similarity threshold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LLM classifies whether a conflict exists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Strength: Catches "be helpful" vs "minimize liability"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intent-level conflicts invisible to formal logic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Weakness: Susceptible to hallucination,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lacks logical rigor</a:t>
            </a:r>
            <a:endParaRPr lang="en-US" sz="11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228600"/>
            <a:ext cx="1645920" cy="292608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228600"/>
            <a:ext cx="1645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CONFLICT DETECTION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6400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Conflict Types: SMT vs. Semantic Coverage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457200" y="1280160"/>
            <a:ext cx="8229600" cy="10515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57200" y="1280160"/>
            <a:ext cx="54864" cy="105156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1353312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 A: Logical Conflict (Caught by SMT ✓)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40080" y="1645920"/>
            <a:ext cx="7863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p1: "Orders over $50 qualify for free shipping" / p2: "All orders incur a $5.99 shipping fee"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Z3 result: amount=60 satisfies both conditions, but free_ship ≠ charge_5.99 → Conflict!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57200" y="2514600"/>
            <a:ext cx="8229600" cy="10515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57200" y="2514600"/>
            <a:ext cx="54864" cy="105156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12" name="Text 10"/>
          <p:cNvSpPr/>
          <p:nvPr/>
        </p:nvSpPr>
        <p:spPr>
          <a:xfrm>
            <a:off x="640080" y="2587752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 B: Semantic Conflict (Caught by LLM ✓)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40080" y="2880360"/>
            <a:ext cx="7863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p3: "Proactively suggest alternatives to resolve issues" / p4: "Never recommend competitor products"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logical contradiction (different actions) → SMT passes. But LLM detects: alternatives may include competitors.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57200" y="3749040"/>
            <a:ext cx="8229600" cy="7315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57200" y="3749040"/>
            <a:ext cx="54864" cy="731520"/>
          </a:xfrm>
          <a:prstGeom prst="rect">
            <a:avLst/>
          </a:prstGeom>
          <a:solidFill>
            <a:srgbClr val="2D9F5A"/>
          </a:solidFill>
          <a:ln/>
        </p:spPr>
      </p:sp>
      <p:sp>
        <p:nvSpPr>
          <p:cNvPr id="16" name="Text 14"/>
          <p:cNvSpPr/>
          <p:nvPr/>
        </p:nvSpPr>
        <p:spPr>
          <a:xfrm>
            <a:off x="640080" y="3822192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 C: No Conflict (Correctly Ignored ✓)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40080" y="4114800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p5: "VIP customers receive priority support" / p6: "All returns require a receipt" → Non-overlapping scopes, unrelated policies.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57200" y="46634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i="1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Neither method alone achieves full coverage — the hybrid approach is essential.</a:t>
            </a:r>
            <a:endParaRPr lang="en-US" sz="11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228600"/>
            <a:ext cx="1645920" cy="292608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228600"/>
            <a:ext cx="1645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CONFLICT DETECTION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6400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Metadata-Driven Priority Resolution (5-Level Hierarchy)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457200" y="1280160"/>
            <a:ext cx="8229600" cy="5943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57200" y="1280160"/>
            <a:ext cx="457200" cy="594360"/>
          </a:xfrm>
          <a:prstGeom prst="rect">
            <a:avLst/>
          </a:prstGeom>
          <a:solidFill>
            <a:srgbClr val="E63946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1280160"/>
            <a:ext cx="457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051560" y="129844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Legal / Regulatory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051560" y="1572768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GDPR, HIPAA, SEC-linked policies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5029200" y="1389888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Auto-identified via reg_link metadata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457200" y="1965960"/>
            <a:ext cx="7863840" cy="5943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57200" y="1965960"/>
            <a:ext cx="457200" cy="59436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14" name="Text 12"/>
          <p:cNvSpPr/>
          <p:nvPr/>
        </p:nvSpPr>
        <p:spPr>
          <a:xfrm>
            <a:off x="457200" y="1965960"/>
            <a:ext cx="457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051560" y="198424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Company Values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1051560" y="2258568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Safety, privacy, ethics principles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5029200" y="2075688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 = safety / privacy / ethics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457200" y="2651760"/>
            <a:ext cx="7498080" cy="5943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57200" y="2651760"/>
            <a:ext cx="457200" cy="59436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20" name="Text 18"/>
          <p:cNvSpPr/>
          <p:nvPr/>
        </p:nvSpPr>
        <p:spPr>
          <a:xfrm>
            <a:off x="457200" y="2651760"/>
            <a:ext cx="457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1051560" y="267004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Company-wide Policies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1051560" y="2944368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Cross-departmental rules (refund, escalation)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5029200" y="2761488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domain-based, multi-dept application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457200" y="3337560"/>
            <a:ext cx="7132320" cy="5943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57200" y="3337560"/>
            <a:ext cx="457200" cy="594360"/>
          </a:xfrm>
          <a:prstGeom prst="rect">
            <a:avLst/>
          </a:prstGeom>
          <a:solidFill>
            <a:srgbClr val="2D3748"/>
          </a:solidFill>
          <a:ln/>
        </p:spPr>
      </p:sp>
      <p:sp>
        <p:nvSpPr>
          <p:cNvPr id="26" name="Text 24"/>
          <p:cNvSpPr/>
          <p:nvPr/>
        </p:nvSpPr>
        <p:spPr>
          <a:xfrm>
            <a:off x="457200" y="3337560"/>
            <a:ext cx="457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1051560" y="335584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Department-specific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1051560" y="3630168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Team-level guidelines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5029200" y="3447288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Distinguished via owner metadata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457200" y="4023360"/>
            <a:ext cx="6766560" cy="5943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457200" y="4023360"/>
            <a:ext cx="457200" cy="594360"/>
          </a:xfrm>
          <a:prstGeom prst="rect">
            <a:avLst/>
          </a:prstGeom>
          <a:solidFill>
            <a:srgbClr val="999999"/>
          </a:solidFill>
          <a:ln/>
        </p:spPr>
      </p:sp>
      <p:sp>
        <p:nvSpPr>
          <p:cNvPr id="32" name="Text 30"/>
          <p:cNvSpPr/>
          <p:nvPr/>
        </p:nvSpPr>
        <p:spPr>
          <a:xfrm>
            <a:off x="457200" y="4023360"/>
            <a:ext cx="457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1051560" y="404164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Situational Guidelines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1051560" y="4315968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Temporary, promotional, context-specific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5029200" y="4133088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Managed via eff_date expiration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457200" y="46634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Same-priority conflicts → escalated to owner with concrete conflict scenarios generated by SMT.</a:t>
            </a:r>
            <a:endParaRPr lang="en-US" sz="105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371600"/>
            <a:ext cx="77724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Part 5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731520" y="2743200"/>
            <a:ext cx="7772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4: Layer Assignment (§3.5)</a:t>
            </a:r>
            <a:endParaRPr lang="en-US" sz="16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0" y="1645920"/>
            <a:ext cx="731520" cy="73152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31520" y="329184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all policies should be enforced identically — assign by characteristics</a:t>
            </a:r>
            <a:endParaRPr lang="en-US" sz="13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228600"/>
            <a:ext cx="1645920" cy="292608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228600"/>
            <a:ext cx="1645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ASSIGNMENT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6400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Four-Dimensional Scoring &amp; Assignment Criteria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457200" y="1280160"/>
            <a:ext cx="1965960" cy="7315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57200" y="1280160"/>
            <a:ext cx="1965960" cy="54864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1371600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s1 Stability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1664208"/>
            <a:ext cx="1965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often the policy changes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(higher = more stable)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2606040" y="1280160"/>
            <a:ext cx="1965960" cy="7315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606040" y="1280160"/>
            <a:ext cx="1965960" cy="54864"/>
          </a:xfrm>
          <a:prstGeom prst="rect">
            <a:avLst/>
          </a:prstGeom>
          <a:solidFill>
            <a:srgbClr val="E63946"/>
          </a:solidFill>
          <a:ln/>
        </p:spPr>
      </p:sp>
      <p:sp>
        <p:nvSpPr>
          <p:cNvPr id="12" name="Text 10"/>
          <p:cNvSpPr/>
          <p:nvPr/>
        </p:nvSpPr>
        <p:spPr>
          <a:xfrm>
            <a:off x="2606040" y="1371600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s2 Criticality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2606040" y="1664208"/>
            <a:ext cx="1965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 of violation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(higher = more critical)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4754880" y="1280160"/>
            <a:ext cx="1965960" cy="7315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754880" y="1280160"/>
            <a:ext cx="1965960" cy="54864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16" name="Text 14"/>
          <p:cNvSpPr/>
          <p:nvPr/>
        </p:nvSpPr>
        <p:spPr>
          <a:xfrm>
            <a:off x="4754880" y="1371600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s3 Context-dep.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754880" y="1664208"/>
            <a:ext cx="1965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 context dependence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(higher = more dynamic)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6903720" y="1280160"/>
            <a:ext cx="1965960" cy="7315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903720" y="1280160"/>
            <a:ext cx="1965960" cy="54864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20" name="Text 18"/>
          <p:cNvSpPr/>
          <p:nvPr/>
        </p:nvSpPr>
        <p:spPr>
          <a:xfrm>
            <a:off x="6903720" y="1371600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s4 Strictness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903720" y="1664208"/>
            <a:ext cx="1965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Enforcement rigor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(higher = zero-tolerance)</a:t>
            </a:r>
            <a:endParaRPr lang="en-US" sz="900" dirty="0"/>
          </a:p>
        </p:txBody>
      </p:sp>
      <p:graphicFrame>
        <p:nvGraphicFramePr>
          <p:cNvPr id="2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2286000"/>
          <a:ext cx="8229600" cy="2011680"/>
        </p:xfrm>
        <a:graphic>
          <a:graphicData uri="http://schemas.openxmlformats.org/drawingml/2006/table">
            <a:tbl>
              <a:tblPr/>
              <a:tblGrid>
                <a:gridCol w="1005840"/>
                <a:gridCol w="457200"/>
                <a:gridCol w="457200"/>
                <a:gridCol w="457200"/>
                <a:gridCol w="457200"/>
                <a:gridCol w="822960"/>
                <a:gridCol w="4572000"/>
              </a:tblGrid>
              <a:tr h="4023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Layer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s2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s3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s4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Update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Why This Layer?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Fine-tuning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≥.8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≥.7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≤.3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any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Quarterly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i="1" dirty="0">
                          <a:solidFill>
                            <a:srgbClr val="1C729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Stable + critical + context-free → internalize in model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Sys. Prompt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≥.6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any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≤.5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any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 deploy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i="1" dirty="0">
                          <a:solidFill>
                            <a:srgbClr val="1C729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Moderate stability → deployment-time injection suffices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Runtime RAG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any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any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≥.6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≤.7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Real-time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i="1" dirty="0">
                          <a:solidFill>
                            <a:srgbClr val="1C729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Context-dependent → needs per-query retrieval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Guardrails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any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≥.8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any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≥.8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Real-time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i="1" dirty="0">
                          <a:solidFill>
                            <a:srgbClr val="1C729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 criticality + strictness → post-gen verification required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</a:tbl>
          </a:graphicData>
        </a:graphic>
      </p:graphicFrame>
      <p:sp>
        <p:nvSpPr>
          <p:cNvPr id="23" name="Shape 20"/>
          <p:cNvSpPr/>
          <p:nvPr/>
        </p:nvSpPr>
        <p:spPr>
          <a:xfrm>
            <a:off x="457200" y="4480560"/>
            <a:ext cx="8229600" cy="457200"/>
          </a:xfrm>
          <a:prstGeom prst="rect">
            <a:avLst/>
          </a:prstGeom>
          <a:solidFill>
            <a:srgbClr val="FFF8E1"/>
          </a:solidFill>
          <a:ln/>
        </p:spPr>
      </p:sp>
      <p:sp>
        <p:nvSpPr>
          <p:cNvPr id="24" name="Text 21"/>
          <p:cNvSpPr/>
          <p:nvPr/>
        </p:nvSpPr>
        <p:spPr>
          <a:xfrm>
            <a:off x="640080" y="4498848"/>
            <a:ext cx="7772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Key: Critical policies (s2 ≥ 0.8) are assigned to multiple layers simultaneously for defense-in-depth. Single-layer failure is compensated.</a:t>
            </a:r>
            <a:endParaRPr lang="en-US" sz="105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371600"/>
            <a:ext cx="77724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Part 6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731520" y="2743200"/>
            <a:ext cx="7772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5: Runtime Enforcement (§3.6)</a:t>
            </a:r>
            <a:endParaRPr lang="en-US" sz="16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0" y="1645920"/>
            <a:ext cx="731520" cy="73152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31520" y="329184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 → During → Post: Three-stage defense-in-depth pipeline</a:t>
            </a:r>
            <a:endParaRPr lang="en-US" sz="13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228600"/>
            <a:ext cx="1645920" cy="292608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228600"/>
            <a:ext cx="1645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ENFORCEMENT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6400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Three-Stage Runtime Overview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457200" y="1280160"/>
            <a:ext cx="2651760" cy="22860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57200" y="1280160"/>
            <a:ext cx="54864" cy="228600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1353312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Pre-Generation (= RAG)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40080" y="1645920"/>
            <a:ext cx="22860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Query → domain classification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DPR (Dense Passage Retrieval)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= RAG's Retrieval step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finds relevant policies only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eff_date filter (expired → out)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Context construction with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boundary markers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Role: WHAT to look at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246120" y="1280160"/>
            <a:ext cx="2651760" cy="22860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246120" y="1280160"/>
            <a:ext cx="54864" cy="228600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12" name="Text 10"/>
          <p:cNvSpPr/>
          <p:nvPr/>
        </p:nvSpPr>
        <p:spPr>
          <a:xfrm>
            <a:off x="3429000" y="1353312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During-Generation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429000" y="1645920"/>
            <a:ext cx="22860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Decision Graph → serialized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as step-by-step CoT scaffold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Logic Rules &amp; Constraints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injected as hard boundaries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reg_link priority guidance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Structured prompting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Role: HOW to answer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035040" y="1280160"/>
            <a:ext cx="2651760" cy="22860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035040" y="1280160"/>
            <a:ext cx="54864" cy="2286000"/>
          </a:xfrm>
          <a:prstGeom prst="rect">
            <a:avLst/>
          </a:prstGeom>
          <a:solidFill>
            <a:srgbClr val="E63946"/>
          </a:solidFill>
          <a:ln/>
        </p:spPr>
      </p:sp>
      <p:sp>
        <p:nvSpPr>
          <p:cNvPr id="16" name="Text 14"/>
          <p:cNvSpPr/>
          <p:nvPr/>
        </p:nvSpPr>
        <p:spPr>
          <a:xfrm>
            <a:off x="6217920" y="1353312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Post-Generation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217920" y="1645920"/>
            <a:ext cx="22860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Pattern matching (ms-level)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SMT: answer vs rules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logical consistency check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LLM evaluator: semantic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compliance scoring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Multi-layer verification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Role: DID it answer correctly?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57200" y="3749040"/>
            <a:ext cx="8229600" cy="4572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640080" y="3767328"/>
            <a:ext cx="7863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D9F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S≥0.95 </a:t>
            </a:r>
            <a:pPr algn="ctr" indent="0" marL="0">
              <a:buNone/>
            </a:pPr>
            <a:r>
              <a:rPr lang="en-US" sz="10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  |  </a:t>
            </a:r>
            <a:pPr algn="ctr" indent="0" marL="0">
              <a:buNone/>
            </a:pPr>
            <a:r>
              <a:rPr lang="en-US" sz="100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0.85≤S&lt;0.95 </a:t>
            </a:r>
            <a:pPr algn="ctr" indent="0" marL="0">
              <a:buNone/>
            </a:pPr>
            <a:r>
              <a:rPr lang="en-US" sz="10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Auto-correct  |  </a:t>
            </a:r>
            <a:pPr algn="ctr" indent="0" marL="0">
              <a:buNone/>
            </a:pPr>
            <a:r>
              <a:rPr lang="en-US" sz="1000" b="1" dirty="0">
                <a:solidFill>
                  <a:srgbClr val="E67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0.70≤S&lt;0.85 </a:t>
            </a:r>
            <a:pPr algn="ctr" indent="0" marL="0">
              <a:buNone/>
            </a:pPr>
            <a:r>
              <a:rPr lang="en-US" sz="10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Regenerate  |  </a:t>
            </a:r>
            <a:pPr algn="ctr" indent="0" marL="0">
              <a:buNone/>
            </a:pPr>
            <a:r>
              <a:rPr lang="en-US" sz="1000" b="1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S&lt;0.70 </a:t>
            </a:r>
            <a:pPr algn="ctr" indent="0" marL="0">
              <a:buNone/>
            </a:pPr>
            <a:r>
              <a:rPr lang="en-US" sz="10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Escalate to Owner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57200" y="4343400"/>
            <a:ext cx="8229600" cy="685800"/>
          </a:xfrm>
          <a:prstGeom prst="rect">
            <a:avLst/>
          </a:prstGeom>
          <a:solidFill>
            <a:srgbClr val="E3F2FD"/>
          </a:solidFill>
          <a:ln/>
        </p:spPr>
      </p:sp>
      <p:sp>
        <p:nvSpPr>
          <p:cNvPr id="21" name="Shape 19"/>
          <p:cNvSpPr/>
          <p:nvPr/>
        </p:nvSpPr>
        <p:spPr>
          <a:xfrm>
            <a:off x="457200" y="4343400"/>
            <a:ext cx="54864" cy="68580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22" name="Text 20"/>
          <p:cNvSpPr/>
          <p:nvPr/>
        </p:nvSpPr>
        <p:spPr>
          <a:xfrm>
            <a:off x="640080" y="4370832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DPR = RAG:  </a:t>
            </a:r>
            <a:pPr indent="0" marL="0">
              <a:buNone/>
            </a:pPr>
            <a:r>
              <a:rPr lang="en-US" sz="9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Dense Passage Retrieval is the Retrieval component of RAG (Retrieval-Augmented Generation). </a:t>
            </a:r>
            <a:pPr indent="0" marL="0">
              <a:buNone/>
            </a:pPr>
            <a:r>
              <a:rPr lang="en-US" sz="9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Pre-Gen = R (retrieve policies), During-Gen = AG (augment prompt &amp; generate). </a:t>
            </a:r>
            <a:pPr indent="0" marL="0">
              <a:buNone/>
            </a:pPr>
            <a:r>
              <a:rPr lang="en-US" sz="95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difference from generic RAG: retrieved items are domain-filtered, eff_date-checked, and priority-annotated.</a:t>
            </a:r>
            <a:endParaRPr lang="en-US" sz="10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228600"/>
            <a:ext cx="1645920" cy="292608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228600"/>
            <a:ext cx="1645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PRE-GENERATION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6400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Concrete Example: How Context Is Constructed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457200" y="1234440"/>
            <a:ext cx="8229600" cy="502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57200" y="1234440"/>
            <a:ext cx="54864" cy="50292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1261872"/>
            <a:ext cx="7772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Query:  </a:t>
            </a:r>
            <a:pPr indent="0" marL="0">
              <a:buNone/>
            </a:pPr>
            <a:r>
              <a:rPr lang="en-US" sz="1050" i="1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"I bought a laptop 20 days ago and it stopped working. I have the receipt. Can I get a full refund?"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57200" y="1874520"/>
            <a:ext cx="2743200" cy="1005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57200" y="1874520"/>
            <a:ext cx="2743200" cy="27432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11" name="Text 9"/>
          <p:cNvSpPr/>
          <p:nvPr/>
        </p:nvSpPr>
        <p:spPr>
          <a:xfrm>
            <a:off x="502920" y="187452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1: Domain Classification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548640" y="2194560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D374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Query → classifier → domain: refund</a:t>
            </a:r>
            <a:endParaRPr lang="en-US" sz="850" dirty="0"/>
          </a:p>
          <a:p>
            <a:pPr indent="0" marL="0">
              <a:buNone/>
            </a:pP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2D374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Filters out: shipping (P1,P2),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2D374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access (P5,P6) — all excluded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337560" y="1874520"/>
            <a:ext cx="2743200" cy="1005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337560" y="1874520"/>
            <a:ext cx="2743200" cy="27432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15" name="Text 13"/>
          <p:cNvSpPr/>
          <p:nvPr/>
        </p:nvSpPr>
        <p:spPr>
          <a:xfrm>
            <a:off x="3383280" y="187452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2: DPR Retrieval (= RAG)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3429000" y="2194560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D374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Query embedding ↔ policy embeds</a:t>
            </a:r>
            <a:endParaRPr lang="en-US" sz="850" dirty="0"/>
          </a:p>
          <a:p>
            <a:pPr indent="0" marL="0">
              <a:buNone/>
            </a:pP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2D374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P3: general return    (sim:0.91)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2D374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P3_exc: electronics   (sim:0.88)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2D374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P4: FTC cooling-off   (sim:0.72)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6217920" y="1874520"/>
            <a:ext cx="2468880" cy="1005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217920" y="1874520"/>
            <a:ext cx="2468880" cy="27432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19" name="Text 17"/>
          <p:cNvSpPr/>
          <p:nvPr/>
        </p:nvSpPr>
        <p:spPr>
          <a:xfrm>
            <a:off x="6263640" y="187452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3: eff_date Filter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6309360" y="219456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D374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P_xmas_promo: exp 2024-01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2D374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expired, auto-removed</a:t>
            </a:r>
            <a:endParaRPr lang="en-US" sz="850" dirty="0"/>
          </a:p>
          <a:p>
            <a:pPr indent="0" marL="0">
              <a:buNone/>
            </a:pP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2D374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P3, P3_exc, P4: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2D374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all active, kept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457200" y="292608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  Decisions made at Pre-Gen: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457200" y="3200400"/>
            <a:ext cx="8229600" cy="1828800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23" name="Text 21"/>
          <p:cNvSpPr/>
          <p:nvPr/>
        </p:nvSpPr>
        <p:spPr>
          <a:xfrm>
            <a:off x="548640" y="3218688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Constructed LLM Context (injected into prompt)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548640" y="3456432"/>
            <a:ext cx="79552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4A2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[SYSTEM] </a:t>
            </a:r>
            <a:pPr indent="0" marL="0">
              <a:buNone/>
            </a:pPr>
            <a:r>
              <a:rPr lang="en-US" sz="800" dirty="0">
                <a:solidFill>
                  <a:srgbClr val="CCCC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You are a CS agent. Follow ONLY the policies below.
</a:t>
            </a:r>
            <a:pPr indent="0" marL="0">
              <a:buNone/>
            </a:pPr>
            <a:r>
              <a:rPr lang="en-US" sz="800" dirty="0">
                <a:solidFill>
                  <a:srgbClr val="1C729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===POLICY_START===
</a:t>
            </a:r>
            <a:pPr indent="0" marL="0">
              <a:buNone/>
            </a:pPr>
            <a:r>
              <a:rPr lang="en-US" sz="800" b="1" dirty="0">
                <a:solidFill>
                  <a:srgbClr val="2D9F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P3 </a:t>
            </a:r>
            <a:pPr indent="0" marL="0">
              <a:buNone/>
            </a:pPr>
            <a:r>
              <a:rPr lang="en-US" sz="800" dirty="0">
                <a:solidFill>
                  <a:srgbClr val="CCCC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(cs_returns_v3 §4.1): Return within 30d + receipt → full refund
</a:t>
            </a:r>
            <a:pPr indent="0" marL="0">
              <a:buNone/>
            </a:pPr>
            <a:r>
              <a:rPr lang="en-US" sz="800" b="1" dirty="0">
                <a:solidFill>
                  <a:srgbClr val="F4A2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P3_exc: </a:t>
            </a:r>
            <a:pPr indent="0" marL="0">
              <a:buNone/>
            </a:pPr>
            <a:r>
              <a:rPr lang="en-US" sz="800" dirty="0">
                <a:solidFill>
                  <a:srgbClr val="CCCC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Electronics → 15-day window (overrides 30d)
</a:t>
            </a:r>
            <a:pPr indent="0" marL="0">
              <a:buNone/>
            </a:pPr>
            <a:r>
              <a:rPr lang="en-US" sz="800" b="1" dirty="0">
                <a:solidFill>
                  <a:srgbClr val="E6394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P4 </a:t>
            </a:r>
            <a:pPr indent="0" marL="0">
              <a:buNone/>
            </a:pPr>
            <a:r>
              <a:rPr lang="en-US" sz="800" dirty="0">
                <a:solidFill>
                  <a:srgbClr val="CCCC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(legal_compliance §2.1, </a:t>
            </a:r>
            <a:pPr indent="0" marL="0">
              <a:buNone/>
            </a:pPr>
            <a:r>
              <a:rPr lang="en-US" sz="800" b="1" dirty="0">
                <a:solidFill>
                  <a:srgbClr val="E6394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reg_link: FTC</a:t>
            </a:r>
            <a:pPr indent="0" marL="0">
              <a:buNone/>
            </a:pPr>
            <a:r>
              <a:rPr lang="en-US" sz="800" dirty="0">
                <a:solidFill>
                  <a:srgbClr val="CCCC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): Cooling-off period guarantee.
</a:t>
            </a:r>
            <a:pPr indent="0" marL="0">
              <a:buNone/>
            </a:pPr>
            <a:r>
              <a:rPr lang="en-US" sz="800" dirty="0">
                <a:solidFill>
                  <a:srgbClr val="E6394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⚠ PRIORITY: FTC-linked → overrides internal policies
</a:t>
            </a:r>
            <a:pPr indent="0" marL="0">
              <a:buNone/>
            </a:pPr>
            <a:r>
              <a:rPr lang="en-US" sz="800" dirty="0">
                <a:solidFill>
                  <a:srgbClr val="1C729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===POLICY_END===
</a:t>
            </a:r>
            <a:pPr indent="0" marL="0">
              <a:buNone/>
            </a:pPr>
            <a:r>
              <a:rPr lang="en-US" sz="800" b="1" dirty="0">
                <a:solidFill>
                  <a:srgbClr val="F4A2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[USER] </a:t>
            </a:r>
            <a:pPr indent="0" marL="0">
              <a:buNone/>
            </a:pPr>
            <a:r>
              <a:rPr lang="en-US" sz="800" dirty="0">
                <a:solidFill>
                  <a:srgbClr val="CCCC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"I bought a laptop 20 days ago..."</a:t>
            </a:r>
            <a:endParaRPr lang="en-US" sz="8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228600"/>
            <a:ext cx="1645920" cy="292608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228600"/>
            <a:ext cx="1645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DURING-GENERATION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6400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Concrete Example: Decision Graph → CoT Scaffold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457200" y="1234440"/>
            <a:ext cx="3657600" cy="22860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57200" y="1234440"/>
            <a:ext cx="3657600" cy="292608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1234440"/>
            <a:ext cx="3474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Graph (offline, fixed)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1554480" y="1645920"/>
            <a:ext cx="1097280" cy="292608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10" name="Text 8"/>
          <p:cNvSpPr/>
          <p:nvPr/>
        </p:nvSpPr>
        <p:spPr>
          <a:xfrm>
            <a:off x="1554480" y="1645920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Receipt?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051560" y="1956816"/>
            <a:ext cx="274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2D9F5A"/>
                </a:solidFill>
              </a:rPr>
              <a:t>Y</a:t>
            </a:r>
            <a:endParaRPr lang="en-US" sz="700" dirty="0"/>
          </a:p>
        </p:txBody>
      </p:sp>
      <p:sp>
        <p:nvSpPr>
          <p:cNvPr id="12" name="Text 10"/>
          <p:cNvSpPr/>
          <p:nvPr/>
        </p:nvSpPr>
        <p:spPr>
          <a:xfrm>
            <a:off x="2880360" y="1956816"/>
            <a:ext cx="274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E63946"/>
                </a:solidFill>
              </a:rPr>
              <a:t>N</a:t>
            </a:r>
            <a:endParaRPr lang="en-US" sz="700" dirty="0"/>
          </a:p>
        </p:txBody>
      </p:sp>
      <p:sp>
        <p:nvSpPr>
          <p:cNvPr id="13" name="Shape 11"/>
          <p:cNvSpPr/>
          <p:nvPr/>
        </p:nvSpPr>
        <p:spPr>
          <a:xfrm>
            <a:off x="640080" y="2148840"/>
            <a:ext cx="1097280" cy="292608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14" name="Text 12"/>
          <p:cNvSpPr/>
          <p:nvPr/>
        </p:nvSpPr>
        <p:spPr>
          <a:xfrm>
            <a:off x="640080" y="2148840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Category?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2468880" y="2148840"/>
            <a:ext cx="1188720" cy="292608"/>
          </a:xfrm>
          <a:prstGeom prst="rect">
            <a:avLst/>
          </a:prstGeom>
          <a:solidFill>
            <a:srgbClr val="FFEBEE"/>
          </a:solidFill>
          <a:ln/>
        </p:spPr>
      </p:sp>
      <p:sp>
        <p:nvSpPr>
          <p:cNvPr id="16" name="Text 14"/>
          <p:cNvSpPr/>
          <p:nvPr/>
        </p:nvSpPr>
        <p:spPr>
          <a:xfrm>
            <a:off x="2468880" y="2148840"/>
            <a:ext cx="1188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 Credit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502920" y="2487168"/>
            <a:ext cx="4572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F4A261"/>
                </a:solidFill>
              </a:rPr>
              <a:t>Elec</a:t>
            </a:r>
            <a:endParaRPr lang="en-US" sz="700" dirty="0"/>
          </a:p>
        </p:txBody>
      </p:sp>
      <p:sp>
        <p:nvSpPr>
          <p:cNvPr id="18" name="Text 16"/>
          <p:cNvSpPr/>
          <p:nvPr/>
        </p:nvSpPr>
        <p:spPr>
          <a:xfrm>
            <a:off x="1508760" y="2487168"/>
            <a:ext cx="4572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2D9F5A"/>
                </a:solidFill>
              </a:rPr>
              <a:t>Other</a:t>
            </a:r>
            <a:endParaRPr lang="en-US" sz="700" dirty="0"/>
          </a:p>
        </p:txBody>
      </p:sp>
      <p:sp>
        <p:nvSpPr>
          <p:cNvPr id="19" name="Shape 17"/>
          <p:cNvSpPr/>
          <p:nvPr/>
        </p:nvSpPr>
        <p:spPr>
          <a:xfrm>
            <a:off x="548640" y="2651760"/>
            <a:ext cx="731520" cy="292608"/>
          </a:xfrm>
          <a:prstGeom prst="rect">
            <a:avLst/>
          </a:prstGeom>
          <a:solidFill>
            <a:srgbClr val="F4A261"/>
          </a:solidFill>
          <a:ln/>
        </p:spPr>
      </p:sp>
      <p:sp>
        <p:nvSpPr>
          <p:cNvPr id="20" name="Text 18"/>
          <p:cNvSpPr/>
          <p:nvPr/>
        </p:nvSpPr>
        <p:spPr>
          <a:xfrm>
            <a:off x="548640" y="2651760"/>
            <a:ext cx="731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≤15d?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>
            <a:off x="1463040" y="2651760"/>
            <a:ext cx="731520" cy="292608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22" name="Text 20"/>
          <p:cNvSpPr/>
          <p:nvPr/>
        </p:nvSpPr>
        <p:spPr>
          <a:xfrm>
            <a:off x="1463040" y="2651760"/>
            <a:ext cx="731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≤30d?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502920" y="2999232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2D374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Y→Refund  N→Manager</a:t>
            </a:r>
            <a:endParaRPr lang="en-US" sz="700" dirty="0"/>
          </a:p>
        </p:txBody>
      </p:sp>
      <p:sp>
        <p:nvSpPr>
          <p:cNvPr id="24" name="Text 22"/>
          <p:cNvSpPr/>
          <p:nvPr/>
        </p:nvSpPr>
        <p:spPr>
          <a:xfrm>
            <a:off x="3931920" y="2011680"/>
            <a:ext cx="640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serialize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480560" y="1234440"/>
            <a:ext cx="4206240" cy="2286000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26" name="Shape 24"/>
          <p:cNvSpPr/>
          <p:nvPr/>
        </p:nvSpPr>
        <p:spPr>
          <a:xfrm>
            <a:off x="4480560" y="1234440"/>
            <a:ext cx="4206240" cy="292608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27" name="Text 25"/>
          <p:cNvSpPr/>
          <p:nvPr/>
        </p:nvSpPr>
        <p:spPr>
          <a:xfrm>
            <a:off x="4572000" y="1234440"/>
            <a:ext cx="4023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Serialized CoT Scaffold (injected into prompt)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4572000" y="1554480"/>
            <a:ext cx="40233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4A2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[PROCEDURE] Follow IN ORDER:
</a:t>
            </a:r>
            <a:pPr indent="0" marL="0">
              <a:buNone/>
            </a:pPr>
            <a:r>
              <a:rPr lang="en-US" sz="800" dirty="0">
                <a:solidFill>
                  <a:srgbClr val="2D9F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Step 1: Verify receipt.
</a:t>
            </a:r>
            <a:pPr indent="0" marL="0">
              <a:buNone/>
            </a:pPr>
            <a:r>
              <a:rPr lang="en-US" sz="800" dirty="0">
                <a:solidFill>
                  <a:srgbClr val="AAAA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If YES → Step 2 | If NO → Store credit. STOP
</a:t>
            </a:r>
            <a:pPr indent="0" marL="0">
              <a:buNone/>
            </a:pPr>
            <a:r>
              <a:rPr lang="en-US" sz="800" dirty="0">
                <a:solidFill>
                  <a:srgbClr val="2D9F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Step 2: Check product category.
</a:t>
            </a:r>
            <a:pPr indent="0" marL="0">
              <a:buNone/>
            </a:pPr>
            <a:r>
              <a:rPr lang="en-US" sz="800" dirty="0">
                <a:solidFill>
                  <a:srgbClr val="AAAA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If ELECTRONICS → Step 3A (15-day window)
  If OTHER → Step 3B (30-day window)
</a:t>
            </a:r>
            <a:pPr indent="0" marL="0">
              <a:buNone/>
            </a:pPr>
            <a:r>
              <a:rPr lang="en-US" sz="800" dirty="0">
                <a:solidFill>
                  <a:srgbClr val="F4A2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Step 3A: Was purchase within 15 days?
</a:t>
            </a:r>
            <a:pPr indent="0" marL="0">
              <a:buNone/>
            </a:pPr>
            <a:r>
              <a:rPr lang="en-US" sz="800" dirty="0">
                <a:solidFill>
                  <a:srgbClr val="AAAA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YES → Full refund | NO → Manager review
</a:t>
            </a:r>
            <a:pPr indent="0" marL="0">
              <a:buNone/>
            </a:pPr>
            <a:r>
              <a:rPr lang="en-US" sz="800" dirty="0">
                <a:solidFill>
                  <a:srgbClr val="1C729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Step 3B: Was purchase within 30 days?
</a:t>
            </a:r>
            <a:pPr indent="0" marL="0">
              <a:buNone/>
            </a:pPr>
            <a:r>
              <a:rPr lang="en-US" sz="800" dirty="0">
                <a:solidFill>
                  <a:srgbClr val="AAAA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YES → Full refund | NO → Manager review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457200" y="3703320"/>
            <a:ext cx="3931920" cy="1280160"/>
          </a:xfrm>
          <a:prstGeom prst="rect">
            <a:avLst/>
          </a:prstGeom>
          <a:solidFill>
            <a:srgbClr val="FFEBEE"/>
          </a:solidFill>
          <a:ln/>
        </p:spPr>
      </p:sp>
      <p:sp>
        <p:nvSpPr>
          <p:cNvPr id="30" name="Shape 28"/>
          <p:cNvSpPr/>
          <p:nvPr/>
        </p:nvSpPr>
        <p:spPr>
          <a:xfrm>
            <a:off x="457200" y="3703320"/>
            <a:ext cx="3931920" cy="256032"/>
          </a:xfrm>
          <a:prstGeom prst="rect">
            <a:avLst/>
          </a:prstGeom>
          <a:solidFill>
            <a:srgbClr val="E63946"/>
          </a:solidFill>
          <a:ln/>
        </p:spPr>
      </p:sp>
      <p:sp>
        <p:nvSpPr>
          <p:cNvPr id="31" name="Text 29"/>
          <p:cNvSpPr/>
          <p:nvPr/>
        </p:nvSpPr>
        <p:spPr>
          <a:xfrm>
            <a:off x="502920" y="370332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Without scaffold (bad)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548640" y="4005072"/>
            <a:ext cx="3657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"Sure! You have a receipt and it's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within 30 days, so you can get a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refund for your laptop!"</a:t>
            </a:r>
            <a:endParaRPr lang="en-US" sz="850" dirty="0"/>
          </a:p>
          <a:p>
            <a:pPr indent="0" marL="0">
              <a:buNone/>
            </a:pP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Skipped Step 2 (electronics check)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Applied 30d rule to a laptop (15d)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4754880" y="3703320"/>
            <a:ext cx="3931920" cy="1280160"/>
          </a:xfrm>
          <a:prstGeom prst="rect">
            <a:avLst/>
          </a:prstGeom>
          <a:solidFill>
            <a:srgbClr val="E8F5E9"/>
          </a:solidFill>
          <a:ln/>
        </p:spPr>
      </p:sp>
      <p:sp>
        <p:nvSpPr>
          <p:cNvPr id="34" name="Shape 32"/>
          <p:cNvSpPr/>
          <p:nvPr/>
        </p:nvSpPr>
        <p:spPr>
          <a:xfrm>
            <a:off x="4754880" y="3703320"/>
            <a:ext cx="3931920" cy="256032"/>
          </a:xfrm>
          <a:prstGeom prst="rect">
            <a:avLst/>
          </a:prstGeom>
          <a:solidFill>
            <a:srgbClr val="2D9F5A"/>
          </a:solidFill>
          <a:ln/>
        </p:spPr>
      </p:sp>
      <p:sp>
        <p:nvSpPr>
          <p:cNvPr id="35" name="Text 33"/>
          <p:cNvSpPr/>
          <p:nvPr/>
        </p:nvSpPr>
        <p:spPr>
          <a:xfrm>
            <a:off x="4800600" y="370332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scaffold (good)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4846320" y="3977640"/>
            <a:ext cx="3657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"Step 1: You have a receipt ✓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Step 2: Laptop = electronics ✓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Step 3A: 20 days &gt; 15-day window ✗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→ Full refund not available.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Options: warranty / manager / credit"</a:t>
            </a:r>
            <a:endParaRPr lang="en-US" sz="850" dirty="0"/>
          </a:p>
          <a:p>
            <a:pPr indent="0" marL="0">
              <a:buNone/>
            </a:pP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Followed procedure, caught 15d rule</a:t>
            </a:r>
            <a:endParaRPr lang="en-US" sz="85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228600"/>
            <a:ext cx="1645920" cy="292608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228600"/>
            <a:ext cx="1645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POST-GENERATION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6400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Concrete Example: Three-Layer Verification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457200" y="1234440"/>
            <a:ext cx="8229600" cy="502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57200" y="1234440"/>
            <a:ext cx="54864" cy="50292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1261872"/>
            <a:ext cx="7772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Output:  </a:t>
            </a:r>
            <a:pPr indent="0" marL="0">
              <a:buNone/>
            </a:pPr>
            <a:r>
              <a:rPr lang="en-US" sz="950" i="1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"Step 1: Receipt ✓ → Step 2: Laptop=electronics → Step 3A: 20d &gt; 15d window → Full refund not available. Options: ..."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57200" y="1874520"/>
            <a:ext cx="2651760" cy="1463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57200" y="1874520"/>
            <a:ext cx="2651760" cy="27432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11" name="Text 9"/>
          <p:cNvSpPr/>
          <p:nvPr/>
        </p:nvSpPr>
        <p:spPr>
          <a:xfrm>
            <a:off x="502920" y="187452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1: Pattern Match (ms)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548640" y="2194560"/>
            <a:ext cx="24688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D374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☐ PII disclosure → None ✓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2D374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☐ Forbidden phrases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2D374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("I guarantee") → None ✓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2D374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☐ Amount promise → None ✓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2D374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☐ Competitor names → None ✓</a:t>
            </a:r>
            <a:endParaRPr lang="en-US" sz="850" dirty="0"/>
          </a:p>
          <a:p>
            <a:pPr indent="0" marL="0">
              <a:buNone/>
            </a:pP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2D374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Result: PASS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246120" y="1874520"/>
            <a:ext cx="2743200" cy="1463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246120" y="1874520"/>
            <a:ext cx="2743200" cy="27432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15" name="Text 13"/>
          <p:cNvSpPr/>
          <p:nvPr/>
        </p:nvSpPr>
        <p:spPr>
          <a:xfrm>
            <a:off x="3291840" y="187452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2: SMT Verification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3337560" y="2194560"/>
            <a:ext cx="25603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2D374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Extract claims from answer: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2D374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cat=electronics, days=20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2D374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window=15, refund=denied</a:t>
            </a:r>
            <a:endParaRPr lang="en-US" sz="800" dirty="0"/>
          </a:p>
          <a:p>
            <a:pPr indent="0" marL="0">
              <a:buNone/>
            </a:pP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2D374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Vs P3_exc rule: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2D374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(elec) ∧ (days&gt;15) → ¬full_cash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2D374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Answer says denied → match ✓</a:t>
            </a:r>
            <a:endParaRPr lang="en-US" sz="800" dirty="0"/>
          </a:p>
          <a:p>
            <a:pPr indent="0" marL="0">
              <a:buNone/>
            </a:pP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2D374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Result: PASS (logically consistent)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6126480" y="1874520"/>
            <a:ext cx="2560320" cy="1463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126480" y="1874520"/>
            <a:ext cx="2560320" cy="274320"/>
          </a:xfrm>
          <a:prstGeom prst="rect">
            <a:avLst/>
          </a:prstGeom>
          <a:solidFill>
            <a:srgbClr val="E63946"/>
          </a:solidFill>
          <a:ln/>
        </p:spPr>
      </p:sp>
      <p:sp>
        <p:nvSpPr>
          <p:cNvPr id="19" name="Text 17"/>
          <p:cNvSpPr/>
          <p:nvPr/>
        </p:nvSpPr>
        <p:spPr>
          <a:xfrm>
            <a:off x="6172200" y="187452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3: LLM Evaluator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6217920" y="2194560"/>
            <a:ext cx="23774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2D374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Accuracy:     0.95 ✓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2D374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Completeness: 0.80 △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2D374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(FTC rule not checked)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2D374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Tone:         0.92 ✓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2D374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Scope:        0.98 ✓</a:t>
            </a:r>
            <a:endParaRPr lang="en-US" sz="800" dirty="0"/>
          </a:p>
          <a:p>
            <a:pPr indent="0" marL="0">
              <a:buNone/>
            </a:pP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2D374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Composite S = 0.91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2D374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Auto-correct (add FTC check)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>
            <a:off x="457200" y="3520440"/>
            <a:ext cx="8229600" cy="1463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57200" y="3520440"/>
            <a:ext cx="8229600" cy="274320"/>
          </a:xfrm>
          <a:prstGeom prst="rect">
            <a:avLst/>
          </a:prstGeom>
          <a:solidFill>
            <a:srgbClr val="E63946"/>
          </a:solidFill>
          <a:ln/>
        </p:spPr>
      </p:sp>
      <p:sp>
        <p:nvSpPr>
          <p:cNvPr id="23" name="Text 21"/>
          <p:cNvSpPr/>
          <p:nvPr/>
        </p:nvSpPr>
        <p:spPr>
          <a:xfrm>
            <a:off x="548640" y="35204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Escalation Case: What happens when S &lt; 0.70 (bad output caught)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594360" y="3858768"/>
            <a:ext cx="7863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Bad LLM output: </a:t>
            </a:r>
            <a:pPr indent="0" marL="0">
              <a:buNone/>
            </a:pPr>
            <a:r>
              <a:rPr lang="en-US" sz="9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"No problem! I'll process your $1,200 refund right away!"  →  S = 0.34
</a:t>
            </a:r>
            <a:pPr indent="0" marL="0">
              <a:buNone/>
            </a:pPr>
            <a:r>
              <a:rPr lang="en-US" sz="900" b="1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Violations: </a:t>
            </a:r>
            <a:pPr indent="0" marL="0">
              <a:buNone/>
            </a:pPr>
            <a:r>
              <a:rPr lang="en-US" sz="9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(1) Ignored 15-day electronics rule  (2) Skipped $500+ manager approval  (3) Promised nonexistent policy
</a:t>
            </a:r>
            <a:pPr indent="0" marL="0">
              <a:buNone/>
            </a:pPr>
            <a:r>
              <a:rPr lang="en-US" sz="9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Action: </a:t>
            </a:r>
            <a:pPr indent="0" marL="0">
              <a:buNone/>
            </a:pPr>
            <a:r>
              <a:rPr lang="en-US" sz="9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BLOCKED → Escalation report sent to </a:t>
            </a:r>
            <a:pPr indent="0" marL="0">
              <a:buNone/>
            </a:pPr>
            <a:r>
              <a:rPr lang="en-US" sz="9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owner: CS Dept</a:t>
            </a:r>
            <a:pPr indent="0" marL="0">
              <a:buNone/>
            </a:pPr>
            <a:r>
              <a:rPr lang="en-US" sz="9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(from metadata) → Customer sees: "Your request requires additional review."</a:t>
            </a:r>
            <a:endParaRPr lang="en-US" sz="9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371600"/>
            <a:ext cx="77724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Part 7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731520" y="2743200"/>
            <a:ext cx="7772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Experiments &amp; Results (§4)</a:t>
            </a:r>
            <a:endParaRPr lang="en-US" sz="16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0" y="1645920"/>
            <a:ext cx="731520" cy="731520"/>
          </a:xfrm>
          <a:prstGeom prst="rect">
            <a:avLst/>
          </a:prstGeom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228600"/>
            <a:ext cx="1645920" cy="292608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228600"/>
            <a:ext cx="1645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EXPERIMENTS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6400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PolicyCompliance-Enterprise Benchmark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457200" y="1280160"/>
            <a:ext cx="3931920" cy="22860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57200" y="1280160"/>
            <a:ext cx="54864" cy="2286000"/>
          </a:xfrm>
          <a:prstGeom prst="rect">
            <a:avLst/>
          </a:prstGeom>
          <a:solidFill>
            <a:srgbClr val="065A82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1792" y="1417320"/>
            <a:ext cx="320040" cy="32004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051560" y="1353312"/>
            <a:ext cx="3154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1: Explicit Policies (Real Companies)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1051560" y="1645920"/>
            <a:ext cx="31546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companies × independent evaluation scenarios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Airlines: JetBlue (47 docs), Delta (52)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Finance: Chase (58), Wells Fargo (61)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E-commerce: Amazon (63), Target (51)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Total: 332 documents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Conflicts detected within each company's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policy set (not cross-company).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4754880" y="1280160"/>
            <a:ext cx="3931920" cy="22860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4754880" y="1280160"/>
            <a:ext cx="54864" cy="2286000"/>
          </a:xfrm>
          <a:prstGeom prst="rect">
            <a:avLst/>
          </a:prstGeom>
          <a:solidFill>
            <a:srgbClr val="1C7293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19472" y="1417320"/>
            <a:ext cx="320040" cy="32004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5349240" y="1353312"/>
            <a:ext cx="3154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2: Implicit Policies (DecisionsDev)</a:t>
            </a:r>
            <a:endParaRPr lang="en-US" sz="1300" dirty="0"/>
          </a:p>
        </p:txBody>
      </p:sp>
      <p:sp>
        <p:nvSpPr>
          <p:cNvPr id="15" name="Text 11"/>
          <p:cNvSpPr/>
          <p:nvPr/>
        </p:nvSpPr>
        <p:spPr>
          <a:xfrm>
            <a:off x="5349240" y="1645920"/>
            <a:ext cx="31546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domains (Apache-2.0 open source)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domain provides 4 artifacts: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(1) Plain-text policy specification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(2) Python reference implementation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(3) Data generator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(4) Ground-truth decision datasets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Eval: Provide only decision logs → recover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underlying rules → compare against spec.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457200" y="3794760"/>
            <a:ext cx="8229600" cy="914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7" name="Text 13"/>
          <p:cNvSpPr/>
          <p:nvPr/>
        </p:nvSpPr>
        <p:spPr>
          <a:xfrm>
            <a:off x="640080" y="384048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Queries: 2,000 total (70% normal / 20% policy edge-cases / 10% adversarial)</a:t>
            </a:r>
            <a:endParaRPr lang="en-US" sz="1100" dirty="0"/>
          </a:p>
        </p:txBody>
      </p:sp>
      <p:sp>
        <p:nvSpPr>
          <p:cNvPr id="18" name="Text 14"/>
          <p:cNvSpPr/>
          <p:nvPr/>
        </p:nvSpPr>
        <p:spPr>
          <a:xfrm>
            <a:off x="640080" y="420624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Annotation: 3 annotators (2 legal professionals + 1 policy analyst), Cohen's κ = 0.78 (extraction), 0.74 (conflicts)</a:t>
            </a:r>
            <a:endParaRPr lang="en-US" sz="105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228600"/>
            <a:ext cx="1645920" cy="292608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228600"/>
            <a:ext cx="1645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6400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Task 1: Policy Extraction Results</a:t>
            </a:r>
            <a:endParaRPr lang="en-US" sz="2600" dirty="0"/>
          </a:p>
        </p:txBody>
      </p:sp>
      <p:graphicFrame>
        <p:nvGraphicFramePr>
          <p:cNvPr id="6" name="Chart 0" descr=""/>
          <p:cNvGraphicFramePr/>
          <p:nvPr/>
        </p:nvGraphicFramePr>
        <p:xfrm>
          <a:off x="457200" y="1280160"/>
          <a:ext cx="5029200" cy="32004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Shape 4"/>
          <p:cNvSpPr/>
          <p:nvPr/>
        </p:nvSpPr>
        <p:spPr>
          <a:xfrm>
            <a:off x="5760720" y="1280160"/>
            <a:ext cx="2926080" cy="1371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5760720" y="1280160"/>
            <a:ext cx="54864" cy="137160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9" name="Text 6"/>
          <p:cNvSpPr/>
          <p:nvPr/>
        </p:nvSpPr>
        <p:spPr>
          <a:xfrm>
            <a:off x="5943600" y="1353312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Insights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5943600" y="1645920"/>
            <a:ext cx="2560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Rule-based: High precision (71.2)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but low recall (54.8)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JSON schema adds +3.6 F1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Multi-pass adds +3.9 F1 more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→ especially effective on complex policies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5760720" y="2834640"/>
            <a:ext cx="2926080" cy="1005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5760720" y="2834640"/>
            <a:ext cx="54864" cy="1005840"/>
          </a:xfrm>
          <a:prstGeom prst="rect">
            <a:avLst/>
          </a:prstGeom>
          <a:solidFill>
            <a:srgbClr val="E63946"/>
          </a:solidFill>
          <a:ln/>
        </p:spPr>
      </p:sp>
      <p:sp>
        <p:nvSpPr>
          <p:cNvPr id="13" name="Text 10"/>
          <p:cNvSpPr/>
          <p:nvPr/>
        </p:nvSpPr>
        <p:spPr>
          <a:xfrm>
            <a:off x="5943600" y="2907792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Matters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5943600" y="3200400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Extraction accuracy is the foundation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the entire pipeline — extraction errors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propagate to conflict detection and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enforcement.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457200" y="46634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 All figures are target estimates (PLACEHOLDER) — to be confirmed after implementation.</a:t>
            </a:r>
            <a:endParaRPr lang="en-US" sz="9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228600"/>
            <a:ext cx="1645920" cy="292608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228600"/>
            <a:ext cx="1645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6400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Task 2: Conflict Detection Results</a:t>
            </a:r>
            <a:endParaRPr lang="en-US" sz="2600" dirty="0"/>
          </a:p>
        </p:txBody>
      </p:sp>
      <p:graphicFrame>
        <p:nvGraphicFramePr>
          <p:cNvPr id="6" name="Chart 0" descr=""/>
          <p:cNvGraphicFramePr/>
          <p:nvPr/>
        </p:nvGraphicFramePr>
        <p:xfrm>
          <a:off x="457200" y="1280160"/>
          <a:ext cx="5029200" cy="32004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Shape 4"/>
          <p:cNvSpPr/>
          <p:nvPr/>
        </p:nvSpPr>
        <p:spPr>
          <a:xfrm>
            <a:off x="5760720" y="1280160"/>
            <a:ext cx="2926080" cy="1371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5760720" y="1280160"/>
            <a:ext cx="54864" cy="137160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9" name="Text 6"/>
          <p:cNvSpPr/>
          <p:nvPr/>
        </p:nvSpPr>
        <p:spPr>
          <a:xfrm>
            <a:off x="5943600" y="1353312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Complementary Failure Modes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5943600" y="1645920"/>
            <a:ext cx="2560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SMT only: P=82.1 R=58.4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→ High precision, low recall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(misses semantic conflicts)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Semantic only: P=68.4 R=74.3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→ Opposite pattern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Hybrid: Balances both methods.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5760720" y="2834640"/>
            <a:ext cx="2926080" cy="1005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5760720" y="2834640"/>
            <a:ext cx="54864" cy="100584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13" name="Text 10"/>
          <p:cNvSpPr/>
          <p:nvPr/>
        </p:nvSpPr>
        <p:spPr>
          <a:xfrm>
            <a:off x="5943600" y="2907792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Consistent with Prior Work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5943600" y="3200400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LLM+Z3: F1=94.8 vs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LLM-only: 69.1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(+25.7 points, NSVIF 2024)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457200" y="46634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 All figures are target estimates (PLACEHOLDER).</a:t>
            </a:r>
            <a:endParaRPr lang="en-US" sz="9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228600"/>
            <a:ext cx="1645920" cy="292608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228600"/>
            <a:ext cx="1645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6400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Task 3: End-to-End Compliance (Primary Evaluation)</a:t>
            </a:r>
            <a:endParaRPr lang="en-US" sz="2600" dirty="0"/>
          </a:p>
        </p:txBody>
      </p:sp>
      <p:graphicFrame>
        <p:nvGraphicFramePr>
          <p:cNvPr id="3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80160"/>
          <a:ext cx="4572000" cy="2926080"/>
        </p:xfrm>
        <a:graphic>
          <a:graphicData uri="http://schemas.openxmlformats.org/drawingml/2006/table">
            <a:tbl>
              <a:tblPr/>
              <a:tblGrid>
                <a:gridCol w="1645920"/>
                <a:gridCol w="822960"/>
                <a:gridCol w="731520"/>
                <a:gridCol w="822960"/>
              </a:tblGrid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Method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Comp.%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FP%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Latency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Vanilla GPT-4o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71.2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847ms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System Prompt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78.5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3.8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892ms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RAG Only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82.3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1.1s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NeMo Guardrails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85.4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8.7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1.4s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Llama Guard 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83.2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6.4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1.1s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WildGuard-7B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81.8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5.9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1.2s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2D9F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PolicyLLM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D9F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94.2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D9F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5.2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D9F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5303520" y="1280160"/>
            <a:ext cx="3383280" cy="10972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5303520" y="1280160"/>
            <a:ext cx="54864" cy="1097280"/>
          </a:xfrm>
          <a:prstGeom prst="rect">
            <a:avLst/>
          </a:prstGeom>
          <a:solidFill>
            <a:srgbClr val="2D9F5A"/>
          </a:solidFill>
          <a:ln/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68112" y="1417320"/>
            <a:ext cx="320040" cy="32004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5897880" y="1353312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+8.8pp Over Best Baseline</a:t>
            </a:r>
            <a:endParaRPr lang="en-US" sz="1300" dirty="0"/>
          </a:p>
        </p:txBody>
      </p:sp>
      <p:sp>
        <p:nvSpPr>
          <p:cNvPr id="11" name="Text 7"/>
          <p:cNvSpPr/>
          <p:nvPr/>
        </p:nvSpPr>
        <p:spPr>
          <a:xfrm>
            <a:off x="5897880" y="1645920"/>
            <a:ext cx="2606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NeMo 85.4% → PolicyLLM 94.2%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FP rate lower than NeMo (5.2% vs 8.7%)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Latency competitive at 1.0s</a:t>
            </a:r>
            <a:endParaRPr lang="en-US" sz="1100" dirty="0"/>
          </a:p>
        </p:txBody>
      </p:sp>
      <p:sp>
        <p:nvSpPr>
          <p:cNvPr id="12" name="Shape 8"/>
          <p:cNvSpPr/>
          <p:nvPr/>
        </p:nvSpPr>
        <p:spPr>
          <a:xfrm>
            <a:off x="5303520" y="2560320"/>
            <a:ext cx="3383280" cy="914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3" name="Shape 9"/>
          <p:cNvSpPr/>
          <p:nvPr/>
        </p:nvSpPr>
        <p:spPr>
          <a:xfrm>
            <a:off x="5303520" y="2560320"/>
            <a:ext cx="54864" cy="914400"/>
          </a:xfrm>
          <a:prstGeom prst="rect">
            <a:avLst/>
          </a:prstGeom>
          <a:solidFill>
            <a:srgbClr val="E63946"/>
          </a:solidFill>
          <a:ln/>
        </p:spPr>
      </p:sp>
      <p:sp>
        <p:nvSpPr>
          <p:cNvPr id="14" name="Text 10"/>
          <p:cNvSpPr/>
          <p:nvPr/>
        </p:nvSpPr>
        <p:spPr>
          <a:xfrm>
            <a:off x="5486400" y="2633472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Prompt Limitation</a:t>
            </a:r>
            <a:endParaRPr lang="en-US" sz="1300" dirty="0"/>
          </a:p>
        </p:txBody>
      </p:sp>
      <p:sp>
        <p:nvSpPr>
          <p:cNvPr id="15" name="Text 11"/>
          <p:cNvSpPr/>
          <p:nvPr/>
        </p:nvSpPr>
        <p:spPr>
          <a:xfrm>
            <a:off x="5486400" y="292608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policies injected → still only 78.5%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Where policies are placed matters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(15.7pp gap vs PolicyLLM)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5303520" y="3657600"/>
            <a:ext cx="3383280" cy="7315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5303520" y="3657600"/>
            <a:ext cx="54864" cy="73152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18" name="Text 14"/>
          <p:cNvSpPr/>
          <p:nvPr/>
        </p:nvSpPr>
        <p:spPr>
          <a:xfrm>
            <a:off x="5486400" y="3730752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Only Limitation</a:t>
            </a:r>
            <a:endParaRPr lang="en-US" sz="1300" dirty="0"/>
          </a:p>
        </p:txBody>
      </p:sp>
      <p:sp>
        <p:nvSpPr>
          <p:cNvPr id="19" name="Text 15"/>
          <p:cNvSpPr/>
          <p:nvPr/>
        </p:nvSpPr>
        <p:spPr>
          <a:xfrm>
            <a:off x="5486400" y="402336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Relevant policies retrieved → still 82.3%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Without metadata, cannot resolve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conflicts or set priorities.</a:t>
            </a:r>
            <a:endParaRPr lang="en-US" sz="11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228600"/>
            <a:ext cx="1645920" cy="292608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228600"/>
            <a:ext cx="1645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DISCUSSION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6400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Key Discussion Points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457200" y="1280160"/>
            <a:ext cx="8229600" cy="80467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57200" y="1280160"/>
            <a:ext cx="54864" cy="804672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1307592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Metadata enables governance, not just detection.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40080" y="1600200"/>
            <a:ext cx="7863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Extraction alone identifies components, but without metadata: no escalation path (owner), expired policies stay active (eff_date), priorities default to arbitrary ordering (reg_link). This explains why RAG Only achieves only 82.3%.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57200" y="2194560"/>
            <a:ext cx="8229600" cy="80467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57200" y="2194560"/>
            <a:ext cx="54864" cy="804672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12" name="Text 10"/>
          <p:cNvSpPr/>
          <p:nvPr/>
        </p:nvSpPr>
        <p:spPr>
          <a:xfrm>
            <a:off x="640080" y="2221992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policies are placed matters as much as having them.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40080" y="2514600"/>
            <a:ext cx="7863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Prompt (78.5%) vs PolicyLLM (94.2%): same policies, 15.7pp difference. Distributing policies by stability and criticality scores across layers is the key.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57200" y="3108960"/>
            <a:ext cx="8229600" cy="80467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57200" y="3108960"/>
            <a:ext cx="54864" cy="804672"/>
          </a:xfrm>
          <a:prstGeom prst="rect">
            <a:avLst/>
          </a:prstGeom>
          <a:solidFill>
            <a:srgbClr val="E63946"/>
          </a:solidFill>
          <a:ln/>
        </p:spPr>
      </p:sp>
      <p:sp>
        <p:nvSpPr>
          <p:cNvPr id="16" name="Text 14"/>
          <p:cNvSpPr/>
          <p:nvPr/>
        </p:nvSpPr>
        <p:spPr>
          <a:xfrm>
            <a:off x="640080" y="3136392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Hybrid verification addresses complementary failure modes.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40080" y="3429000"/>
            <a:ext cx="7863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SMT: high precision, low recall / Semantic: opposite pattern. Combined F1=82.4%. Consistent with NSVIF (2024) reporting +25.7 F1 gain.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57200" y="4023360"/>
            <a:ext cx="8229600" cy="80467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57200" y="4023360"/>
            <a:ext cx="54864" cy="804672"/>
          </a:xfrm>
          <a:prstGeom prst="rect">
            <a:avLst/>
          </a:prstGeom>
          <a:solidFill>
            <a:srgbClr val="2D9F5A"/>
          </a:solidFill>
          <a:ln/>
        </p:spPr>
      </p:sp>
      <p:sp>
        <p:nvSpPr>
          <p:cNvPr id="20" name="Text 18"/>
          <p:cNvSpPr/>
          <p:nvPr/>
        </p:nvSpPr>
        <p:spPr>
          <a:xfrm>
            <a:off x="640080" y="4050792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Incomplete coverage is a feature, not a failure.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40080" y="4343400"/>
            <a:ext cx="7863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Queries outside decision graph paths → escalation. Detecting policy gaps is valuable; silent generation would mask them.</a:t>
            </a:r>
            <a:endParaRPr lang="en-US" sz="100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228600"/>
            <a:ext cx="1645920" cy="292608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228600"/>
            <a:ext cx="1645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DISCUSSION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6400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Anticipated Criticism: "This Is Just Prompting"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457200" y="1234440"/>
            <a:ext cx="8229600" cy="502920"/>
          </a:xfrm>
          <a:prstGeom prst="rect">
            <a:avLst/>
          </a:prstGeom>
          <a:solidFill>
            <a:srgbClr val="FFEBEE"/>
          </a:solidFill>
          <a:ln/>
        </p:spPr>
      </p:sp>
      <p:sp>
        <p:nvSpPr>
          <p:cNvPr id="7" name="Shape 5"/>
          <p:cNvSpPr/>
          <p:nvPr/>
        </p:nvSpPr>
        <p:spPr>
          <a:xfrm>
            <a:off x="457200" y="1234440"/>
            <a:ext cx="54864" cy="502920"/>
          </a:xfrm>
          <a:prstGeom prst="rect">
            <a:avLst/>
          </a:prstGeom>
          <a:solidFill>
            <a:srgbClr val="E63946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1261872"/>
            <a:ext cx="7772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Critique: </a:t>
            </a:r>
            <a:pPr indent="0" marL="0">
              <a:buNone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During-Gen = structured system prompt. Pre-Gen = RAG. Post-Gen = LLM-as-judge. No novel architecture or algorithm.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57200" y="1874520"/>
            <a:ext cx="8229600" cy="16916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57200" y="1874520"/>
            <a:ext cx="8229600" cy="292608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11" name="Text 9"/>
          <p:cNvSpPr/>
          <p:nvPr/>
        </p:nvSpPr>
        <p:spPr>
          <a:xfrm>
            <a:off x="548640" y="1874520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Defense: Modular Architecture Is the Contribution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40080" y="2286000"/>
            <a:ext cx="1417320" cy="45720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" y="2286000"/>
            <a:ext cx="1417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Extraction</a:t>
            </a:r>
            <a:endParaRPr lang="en-US" sz="750" dirty="0"/>
          </a:p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(Pass 1-5)</a:t>
            </a:r>
            <a:endParaRPr lang="en-US" sz="750" dirty="0"/>
          </a:p>
        </p:txBody>
      </p:sp>
      <p:sp>
        <p:nvSpPr>
          <p:cNvPr id="14" name="Text 12"/>
          <p:cNvSpPr/>
          <p:nvPr/>
        </p:nvSpPr>
        <p:spPr>
          <a:xfrm>
            <a:off x="640080" y="2743200"/>
            <a:ext cx="1417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63946"/>
                </a:solidFill>
              </a:rPr>
              <a:t>↕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40080" y="2926080"/>
            <a:ext cx="1417320" cy="411480"/>
          </a:xfrm>
          <a:prstGeom prst="rect">
            <a:avLst/>
          </a:prstGeom>
          <a:solidFill>
            <a:srgbClr val="F5F5F5"/>
          </a:solidFill>
          <a:ln w="6350">
            <a:solidFill>
              <a:srgbClr val="BDBDBD"/>
            </a:solidFill>
            <a:prstDash val="dash"/>
          </a:ln>
        </p:spPr>
      </p:sp>
      <p:sp>
        <p:nvSpPr>
          <p:cNvPr id="16" name="Text 14"/>
          <p:cNvSpPr/>
          <p:nvPr/>
        </p:nvSpPr>
        <p:spPr>
          <a:xfrm>
            <a:off x="640080" y="2926080"/>
            <a:ext cx="1417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75757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GPT-4o, Claude,</a:t>
            </a:r>
            <a:endParaRPr lang="en-US" sz="700" dirty="0"/>
          </a:p>
          <a:p>
            <a:pPr algn="ctr" indent="0" marL="0">
              <a:buNone/>
            </a:pPr>
            <a:r>
              <a:rPr lang="en-US" sz="700" dirty="0">
                <a:solidFill>
                  <a:srgbClr val="75757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Fine-tuned BERT</a:t>
            </a:r>
            <a:endParaRPr lang="en-US" sz="700" dirty="0"/>
          </a:p>
        </p:txBody>
      </p:sp>
      <p:sp>
        <p:nvSpPr>
          <p:cNvPr id="17" name="Text 15"/>
          <p:cNvSpPr/>
          <p:nvPr/>
        </p:nvSpPr>
        <p:spPr>
          <a:xfrm>
            <a:off x="2011680" y="2331720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D3748"/>
                </a:solidFill>
              </a:rPr>
              <a:t>→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2240280" y="2286000"/>
            <a:ext cx="1417320" cy="457200"/>
          </a:xfrm>
          <a:prstGeom prst="rect">
            <a:avLst/>
          </a:prstGeom>
          <a:solidFill>
            <a:srgbClr val="F4A261"/>
          </a:solidFill>
          <a:ln/>
        </p:spPr>
      </p:sp>
      <p:sp>
        <p:nvSpPr>
          <p:cNvPr id="19" name="Text 17"/>
          <p:cNvSpPr/>
          <p:nvPr/>
        </p:nvSpPr>
        <p:spPr>
          <a:xfrm>
            <a:off x="2240280" y="2286000"/>
            <a:ext cx="1417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Schema</a:t>
            </a:r>
            <a:endParaRPr lang="en-US" sz="750" dirty="0"/>
          </a:p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(Pass 6-7)</a:t>
            </a:r>
            <a:endParaRPr lang="en-US" sz="750" dirty="0"/>
          </a:p>
        </p:txBody>
      </p:sp>
      <p:sp>
        <p:nvSpPr>
          <p:cNvPr id="20" name="Text 18"/>
          <p:cNvSpPr/>
          <p:nvPr/>
        </p:nvSpPr>
        <p:spPr>
          <a:xfrm>
            <a:off x="2240280" y="2743200"/>
            <a:ext cx="1417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63946"/>
                </a:solidFill>
              </a:rPr>
              <a:t>↕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2240280" y="2926080"/>
            <a:ext cx="1417320" cy="411480"/>
          </a:xfrm>
          <a:prstGeom prst="rect">
            <a:avLst/>
          </a:prstGeom>
          <a:solidFill>
            <a:srgbClr val="F5F5F5"/>
          </a:solidFill>
          <a:ln w="6350">
            <a:solidFill>
              <a:srgbClr val="BDBDBD"/>
            </a:solidFill>
            <a:prstDash val="dash"/>
          </a:ln>
        </p:spPr>
      </p:sp>
      <p:sp>
        <p:nvSpPr>
          <p:cNvPr id="22" name="Text 20"/>
          <p:cNvSpPr/>
          <p:nvPr/>
        </p:nvSpPr>
        <p:spPr>
          <a:xfrm>
            <a:off x="2240280" y="2926080"/>
            <a:ext cx="1417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75757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Sentence-BERT,</a:t>
            </a:r>
            <a:endParaRPr lang="en-US" sz="700" dirty="0"/>
          </a:p>
          <a:p>
            <a:pPr algn="ctr" indent="0" marL="0">
              <a:buNone/>
            </a:pPr>
            <a:r>
              <a:rPr lang="en-US" sz="700" dirty="0">
                <a:solidFill>
                  <a:srgbClr val="75757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OpenAI Embed, K-means</a:t>
            </a:r>
            <a:endParaRPr lang="en-US" sz="700" dirty="0"/>
          </a:p>
        </p:txBody>
      </p:sp>
      <p:sp>
        <p:nvSpPr>
          <p:cNvPr id="23" name="Text 21"/>
          <p:cNvSpPr/>
          <p:nvPr/>
        </p:nvSpPr>
        <p:spPr>
          <a:xfrm>
            <a:off x="3611880" y="2331720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D3748"/>
                </a:solidFill>
              </a:rPr>
              <a:t>→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3840480" y="2286000"/>
            <a:ext cx="1417320" cy="45720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25" name="Text 23"/>
          <p:cNvSpPr/>
          <p:nvPr/>
        </p:nvSpPr>
        <p:spPr>
          <a:xfrm>
            <a:off x="3840480" y="2286000"/>
            <a:ext cx="1417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Formalization</a:t>
            </a:r>
            <a:endParaRPr lang="en-US" sz="750" dirty="0"/>
          </a:p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(§3.3)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3840480" y="2743200"/>
            <a:ext cx="1417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63946"/>
                </a:solidFill>
              </a:rPr>
              <a:t>↕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3840480" y="2926080"/>
            <a:ext cx="1417320" cy="411480"/>
          </a:xfrm>
          <a:prstGeom prst="rect">
            <a:avLst/>
          </a:prstGeom>
          <a:solidFill>
            <a:srgbClr val="F5F5F5"/>
          </a:solidFill>
          <a:ln w="6350">
            <a:solidFill>
              <a:srgbClr val="BDBDBD"/>
            </a:solidFill>
            <a:prstDash val="dash"/>
          </a:ln>
        </p:spPr>
      </p:sp>
      <p:sp>
        <p:nvSpPr>
          <p:cNvPr id="28" name="Text 26"/>
          <p:cNvSpPr/>
          <p:nvPr/>
        </p:nvSpPr>
        <p:spPr>
          <a:xfrm>
            <a:off x="3840480" y="2926080"/>
            <a:ext cx="1417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75757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LLM → Z3,</a:t>
            </a:r>
            <a:endParaRPr lang="en-US" sz="700" dirty="0"/>
          </a:p>
          <a:p>
            <a:pPr algn="ctr" indent="0" marL="0">
              <a:buNone/>
            </a:pPr>
            <a:r>
              <a:rPr lang="en-US" sz="700" dirty="0">
                <a:solidFill>
                  <a:srgbClr val="75757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DSL compiler,</a:t>
            </a:r>
            <a:endParaRPr lang="en-US" sz="700" dirty="0"/>
          </a:p>
          <a:p>
            <a:pPr algn="ctr" indent="0" marL="0">
              <a:buNone/>
            </a:pPr>
            <a:r>
              <a:rPr lang="en-US" sz="700" dirty="0">
                <a:solidFill>
                  <a:srgbClr val="75757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Program synthesis</a:t>
            </a:r>
            <a:endParaRPr lang="en-US" sz="700" dirty="0"/>
          </a:p>
        </p:txBody>
      </p:sp>
      <p:sp>
        <p:nvSpPr>
          <p:cNvPr id="29" name="Text 27"/>
          <p:cNvSpPr/>
          <p:nvPr/>
        </p:nvSpPr>
        <p:spPr>
          <a:xfrm>
            <a:off x="5212080" y="2331720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D3748"/>
                </a:solidFill>
              </a:rPr>
              <a:t>→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5440680" y="2286000"/>
            <a:ext cx="1417320" cy="457200"/>
          </a:xfrm>
          <a:prstGeom prst="rect">
            <a:avLst/>
          </a:prstGeom>
          <a:solidFill>
            <a:srgbClr val="E63946"/>
          </a:solidFill>
          <a:ln/>
        </p:spPr>
      </p:sp>
      <p:sp>
        <p:nvSpPr>
          <p:cNvPr id="31" name="Text 29"/>
          <p:cNvSpPr/>
          <p:nvPr/>
        </p:nvSpPr>
        <p:spPr>
          <a:xfrm>
            <a:off x="5440680" y="2286000"/>
            <a:ext cx="1417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Conflict</a:t>
            </a:r>
            <a:endParaRPr lang="en-US" sz="750" dirty="0"/>
          </a:p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(§3.4)</a:t>
            </a:r>
            <a:endParaRPr lang="en-US" sz="750" dirty="0"/>
          </a:p>
        </p:txBody>
      </p:sp>
      <p:sp>
        <p:nvSpPr>
          <p:cNvPr id="32" name="Text 30"/>
          <p:cNvSpPr/>
          <p:nvPr/>
        </p:nvSpPr>
        <p:spPr>
          <a:xfrm>
            <a:off x="5440680" y="2743200"/>
            <a:ext cx="1417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63946"/>
                </a:solidFill>
              </a:rPr>
              <a:t>↕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5440680" y="2926080"/>
            <a:ext cx="1417320" cy="411480"/>
          </a:xfrm>
          <a:prstGeom prst="rect">
            <a:avLst/>
          </a:prstGeom>
          <a:solidFill>
            <a:srgbClr val="F5F5F5"/>
          </a:solidFill>
          <a:ln w="6350">
            <a:solidFill>
              <a:srgbClr val="BDBDBD"/>
            </a:solidFill>
            <a:prstDash val="dash"/>
          </a:ln>
        </p:spPr>
      </p:sp>
      <p:sp>
        <p:nvSpPr>
          <p:cNvPr id="34" name="Text 32"/>
          <p:cNvSpPr/>
          <p:nvPr/>
        </p:nvSpPr>
        <p:spPr>
          <a:xfrm>
            <a:off x="5440680" y="2926080"/>
            <a:ext cx="1417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75757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Z3, Prover9,</a:t>
            </a:r>
            <a:endParaRPr lang="en-US" sz="700" dirty="0"/>
          </a:p>
          <a:p>
            <a:pPr algn="ctr" indent="0" marL="0">
              <a:buNone/>
            </a:pPr>
            <a:r>
              <a:rPr lang="en-US" sz="700" dirty="0">
                <a:solidFill>
                  <a:srgbClr val="75757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CVC5, Graph query</a:t>
            </a:r>
            <a:endParaRPr lang="en-US" sz="700" dirty="0"/>
          </a:p>
        </p:txBody>
      </p:sp>
      <p:sp>
        <p:nvSpPr>
          <p:cNvPr id="35" name="Text 33"/>
          <p:cNvSpPr/>
          <p:nvPr/>
        </p:nvSpPr>
        <p:spPr>
          <a:xfrm>
            <a:off x="6812280" y="2331720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D3748"/>
                </a:solidFill>
              </a:rPr>
              <a:t>→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7040880" y="2286000"/>
            <a:ext cx="1417320" cy="45720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37" name="Text 35"/>
          <p:cNvSpPr/>
          <p:nvPr/>
        </p:nvSpPr>
        <p:spPr>
          <a:xfrm>
            <a:off x="7040880" y="2286000"/>
            <a:ext cx="1417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Runtime</a:t>
            </a:r>
            <a:endParaRPr lang="en-US" sz="750" dirty="0"/>
          </a:p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(§3.5)</a:t>
            </a:r>
            <a:endParaRPr lang="en-US" sz="750" dirty="0"/>
          </a:p>
        </p:txBody>
      </p:sp>
      <p:sp>
        <p:nvSpPr>
          <p:cNvPr id="38" name="Text 36"/>
          <p:cNvSpPr/>
          <p:nvPr/>
        </p:nvSpPr>
        <p:spPr>
          <a:xfrm>
            <a:off x="7040880" y="2743200"/>
            <a:ext cx="1417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63946"/>
                </a:solidFill>
              </a:rPr>
              <a:t>↕</a:t>
            </a:r>
            <a:endParaRPr lang="en-US" sz="1200" dirty="0"/>
          </a:p>
        </p:txBody>
      </p:sp>
      <p:sp>
        <p:nvSpPr>
          <p:cNvPr id="39" name="Shape 37"/>
          <p:cNvSpPr/>
          <p:nvPr/>
        </p:nvSpPr>
        <p:spPr>
          <a:xfrm>
            <a:off x="7040880" y="2926080"/>
            <a:ext cx="1417320" cy="411480"/>
          </a:xfrm>
          <a:prstGeom prst="rect">
            <a:avLst/>
          </a:prstGeom>
          <a:solidFill>
            <a:srgbClr val="F5F5F5"/>
          </a:solidFill>
          <a:ln w="6350">
            <a:solidFill>
              <a:srgbClr val="BDBDBD"/>
            </a:solidFill>
            <a:prstDash val="dash"/>
          </a:ln>
        </p:spPr>
      </p:sp>
      <p:sp>
        <p:nvSpPr>
          <p:cNvPr id="40" name="Text 38"/>
          <p:cNvSpPr/>
          <p:nvPr/>
        </p:nvSpPr>
        <p:spPr>
          <a:xfrm>
            <a:off x="7040880" y="2926080"/>
            <a:ext cx="1417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75757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CoT prompt,</a:t>
            </a:r>
            <a:endParaRPr lang="en-US" sz="700" dirty="0"/>
          </a:p>
          <a:p>
            <a:pPr algn="ctr" indent="0" marL="0">
              <a:buNone/>
            </a:pPr>
            <a:r>
              <a:rPr lang="en-US" sz="700" dirty="0">
                <a:solidFill>
                  <a:srgbClr val="75757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Fine-tuned model,</a:t>
            </a:r>
            <a:endParaRPr lang="en-US" sz="700" dirty="0"/>
          </a:p>
          <a:p>
            <a:pPr algn="ctr" indent="0" marL="0">
              <a:buNone/>
            </a:pPr>
            <a:r>
              <a:rPr lang="en-US" sz="700" dirty="0">
                <a:solidFill>
                  <a:srgbClr val="75757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Rule engine</a:t>
            </a:r>
            <a:endParaRPr lang="en-US" sz="700" dirty="0"/>
          </a:p>
        </p:txBody>
      </p:sp>
      <p:sp>
        <p:nvSpPr>
          <p:cNvPr id="41" name="Text 39"/>
          <p:cNvSpPr/>
          <p:nvPr/>
        </p:nvSpPr>
        <p:spPr>
          <a:xfrm>
            <a:off x="640080" y="3383280"/>
            <a:ext cx="7772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i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module defines an interface. Implementation is swappable. Value = interface design between modules, not any single technique.</a:t>
            </a:r>
            <a:endParaRPr lang="en-US" sz="850" dirty="0"/>
          </a:p>
        </p:txBody>
      </p:sp>
      <p:sp>
        <p:nvSpPr>
          <p:cNvPr id="42" name="Shape 40"/>
          <p:cNvSpPr/>
          <p:nvPr/>
        </p:nvSpPr>
        <p:spPr>
          <a:xfrm>
            <a:off x="457200" y="3703320"/>
            <a:ext cx="3931920" cy="12801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43" name="Shape 41"/>
          <p:cNvSpPr/>
          <p:nvPr/>
        </p:nvSpPr>
        <p:spPr>
          <a:xfrm>
            <a:off x="457200" y="3703320"/>
            <a:ext cx="54864" cy="128016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44" name="Text 42"/>
          <p:cNvSpPr/>
          <p:nvPr/>
        </p:nvSpPr>
        <p:spPr>
          <a:xfrm>
            <a:off x="640080" y="3721608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Support: Ablation Must Prove It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640080" y="3977640"/>
            <a:ext cx="3657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removing any module degrades performance,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combination is non-trivial:</a:t>
            </a:r>
            <a:endParaRPr lang="en-US" sz="850" dirty="0"/>
          </a:p>
          <a:p>
            <a:pPr indent="0" marL="0">
              <a:buNone/>
            </a:pP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Pre-Gen only (no CoT, no verify)  → ~82%?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+ During-Gen CoT scaffold        → ~89%?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+ Post-Gen verification           → ~94%?</a:t>
            </a:r>
            <a:endParaRPr lang="en-US" sz="850" dirty="0"/>
          </a:p>
          <a:p>
            <a:pPr indent="0" marL="0">
              <a:buNone/>
            </a:pP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stage catches what the previous misses.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defense-in-depth, not redundancy.</a:t>
            </a:r>
            <a:endParaRPr lang="en-US" sz="850" dirty="0"/>
          </a:p>
        </p:txBody>
      </p:sp>
      <p:sp>
        <p:nvSpPr>
          <p:cNvPr id="46" name="Shape 44"/>
          <p:cNvSpPr/>
          <p:nvPr/>
        </p:nvSpPr>
        <p:spPr>
          <a:xfrm>
            <a:off x="4754880" y="3703320"/>
            <a:ext cx="3931920" cy="12801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47" name="Shape 45"/>
          <p:cNvSpPr/>
          <p:nvPr/>
        </p:nvSpPr>
        <p:spPr>
          <a:xfrm>
            <a:off x="4754880" y="3703320"/>
            <a:ext cx="54864" cy="1280160"/>
          </a:xfrm>
          <a:prstGeom prst="rect">
            <a:avLst/>
          </a:prstGeom>
          <a:solidFill>
            <a:srgbClr val="F4A261"/>
          </a:solidFill>
          <a:ln/>
        </p:spPr>
      </p:sp>
      <p:sp>
        <p:nvSpPr>
          <p:cNvPr id="48" name="Text 46"/>
          <p:cNvSpPr/>
          <p:nvPr/>
        </p:nvSpPr>
        <p:spPr>
          <a:xfrm>
            <a:off x="4937760" y="3721608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Positioning: Systems Paper, Not Algorithm Paper</a:t>
            </a:r>
            <a:endParaRPr lang="en-US" sz="1000" dirty="0"/>
          </a:p>
        </p:txBody>
      </p:sp>
      <p:sp>
        <p:nvSpPr>
          <p:cNvPr id="49" name="Text 47"/>
          <p:cNvSpPr/>
          <p:nvPr/>
        </p:nvSpPr>
        <p:spPr>
          <a:xfrm>
            <a:off x="4937760" y="3977640"/>
            <a:ext cx="3657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Analogy: </a:t>
            </a:r>
            <a:pPr indent="0" marL="0">
              <a:buNone/>
            </a:pPr>
            <a:r>
              <a:rPr lang="en-US" sz="8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MapReduce used known distributed
systems concepts. Contribution = architecture +
proving it works at scale.
</a:t>
            </a:r>
            <a:pPr indent="0" marL="0">
              <a:buNone/>
            </a:pPr>
            <a:r>
              <a:rPr lang="en-US" sz="85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contribution: </a:t>
            </a:r>
            <a:pPr indent="0" marL="0">
              <a:buNone/>
            </a:pPr>
            <a:r>
              <a:rPr lang="en-US" sz="8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definition (extraction →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verification → enforcement), modular design,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the benchmark. Not any single technique.</a:t>
            </a:r>
            <a:endParaRPr lang="en-US" sz="85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228600"/>
            <a:ext cx="1645920" cy="292608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228600"/>
            <a:ext cx="1645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LIMITATIONS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6400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Identified Gaps &amp; Honest Limitations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457200" y="1234440"/>
            <a:ext cx="8229600" cy="56692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57200" y="1234440"/>
            <a:ext cx="54864" cy="566928"/>
          </a:xfrm>
          <a:prstGeom prst="rect">
            <a:avLst/>
          </a:prstGeom>
          <a:solidFill>
            <a:srgbClr val="E63946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1252728"/>
            <a:ext cx="2926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Schema Normalization Missing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640080" y="1481328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mechanism to unify variable names across documents. "free shipping" and "$5.99 fee" become different variables → Z3 cannot compare. Proposed fix: Pass 6-7 (embedding clustering + schema gen).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457200" y="1874520"/>
            <a:ext cx="8229600" cy="56692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57200" y="1874520"/>
            <a:ext cx="54864" cy="566928"/>
          </a:xfrm>
          <a:prstGeom prst="rect">
            <a:avLst/>
          </a:prstGeom>
          <a:solidFill>
            <a:srgbClr val="E63946"/>
          </a:solidFill>
          <a:ln/>
        </p:spPr>
      </p:sp>
      <p:sp>
        <p:nvSpPr>
          <p:cNvPr id="12" name="Text 10"/>
          <p:cNvSpPr/>
          <p:nvPr/>
        </p:nvSpPr>
        <p:spPr>
          <a:xfrm>
            <a:off x="640080" y="1892808"/>
            <a:ext cx="2926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Formalization Is a Black Box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640080" y="2121408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§3.3 says "LLM converts to logic rules" — no detail on how. Schema-constrained formalization (proposed) addresses this but is not yet implemented.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457200" y="2514600"/>
            <a:ext cx="8229600" cy="56692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57200" y="2514600"/>
            <a:ext cx="54864" cy="566928"/>
          </a:xfrm>
          <a:prstGeom prst="rect">
            <a:avLst/>
          </a:prstGeom>
          <a:solidFill>
            <a:srgbClr val="F4A261"/>
          </a:solidFill>
          <a:ln/>
        </p:spPr>
      </p:sp>
      <p:sp>
        <p:nvSpPr>
          <p:cNvPr id="16" name="Text 14"/>
          <p:cNvSpPr/>
          <p:nvPr/>
        </p:nvSpPr>
        <p:spPr>
          <a:xfrm>
            <a:off x="640080" y="2532888"/>
            <a:ext cx="2926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Lossy Extraction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640080" y="2761488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scope/conditions/actions/exceptions decomposition loses: component relationships ("unless" → ¬), inverse implications, cross-doc references. Mitigation: keep original text attached.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457200" y="3154680"/>
            <a:ext cx="8229600" cy="56692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57200" y="3154680"/>
            <a:ext cx="54864" cy="566928"/>
          </a:xfrm>
          <a:prstGeom prst="rect">
            <a:avLst/>
          </a:prstGeom>
          <a:solidFill>
            <a:srgbClr val="F4A261"/>
          </a:solidFill>
          <a:ln/>
        </p:spPr>
      </p:sp>
      <p:sp>
        <p:nvSpPr>
          <p:cNvPr id="20" name="Text 18"/>
          <p:cNvSpPr/>
          <p:nvPr/>
        </p:nvSpPr>
        <p:spPr>
          <a:xfrm>
            <a:off x="640080" y="3172968"/>
            <a:ext cx="2926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Metadata Semi-Automation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640080" y="3401568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source &amp; domain are fully automatic. owner and reg_link require human confirmation. reg_link errors are high-cost (changes priority). Paper overstates automation level.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457200" y="3794760"/>
            <a:ext cx="8229600" cy="56692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57200" y="3794760"/>
            <a:ext cx="54864" cy="566928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24" name="Text 22"/>
          <p:cNvSpPr/>
          <p:nvPr/>
        </p:nvSpPr>
        <p:spPr>
          <a:xfrm>
            <a:off x="640080" y="3813048"/>
            <a:ext cx="2926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Scoring False Precision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640080" y="4041648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4-dim 0.0–1.0 continuous scores, but s2–s4 are LLM estimates. 0.58 vs 0.62 distinction is unreliable. Realistic alternative: Low/Med/High 3-level classification.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457200" y="4434840"/>
            <a:ext cx="8229600" cy="56692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457200" y="4434840"/>
            <a:ext cx="54864" cy="566928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28" name="Text 26"/>
          <p:cNvSpPr/>
          <p:nvPr/>
        </p:nvSpPr>
        <p:spPr>
          <a:xfrm>
            <a:off x="640080" y="4453128"/>
            <a:ext cx="2926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PLACEHOLDER Experiments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640080" y="4681728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94.2% compliance not yet validated. Ablation study (key defense against "just prompting" critique) not yet conducted.</a:t>
            </a:r>
            <a:endParaRPr lang="en-US" sz="90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371600"/>
            <a:ext cx="77724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Part 8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731520" y="2743200"/>
            <a:ext cx="7772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Work &amp; Team Division Plan</a:t>
            </a:r>
            <a:endParaRPr lang="en-US" sz="16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0" y="1645920"/>
            <a:ext cx="731520" cy="73152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31520" y="329184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should remaining tasks be distributed across team members?</a:t>
            </a:r>
            <a:endParaRPr lang="en-US" sz="130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228600"/>
            <a:ext cx="1645920" cy="292608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228600"/>
            <a:ext cx="1645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WORK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6400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Remaining Task Items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457200" y="1280160"/>
            <a:ext cx="8229600" cy="53035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57200" y="1280160"/>
            <a:ext cx="411480" cy="530352"/>
          </a:xfrm>
          <a:prstGeom prst="rect">
            <a:avLst/>
          </a:prstGeom>
          <a:solidFill>
            <a:srgbClr val="E63946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1280160"/>
            <a:ext cx="411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005840" y="1298448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Implementation &amp; PLACEHOLDER Resolution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005840" y="153619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 all modules, run experiments, replace target estimates with real numbers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7498080" y="1371600"/>
            <a:ext cx="1005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457200" y="1883664"/>
            <a:ext cx="8229600" cy="53035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57200" y="1883664"/>
            <a:ext cx="411480" cy="530352"/>
          </a:xfrm>
          <a:prstGeom prst="rect">
            <a:avLst/>
          </a:prstGeom>
          <a:solidFill>
            <a:srgbClr val="E63946"/>
          </a:solidFill>
          <a:ln/>
        </p:spPr>
      </p:sp>
      <p:sp>
        <p:nvSpPr>
          <p:cNvPr id="14" name="Text 12"/>
          <p:cNvSpPr/>
          <p:nvPr/>
        </p:nvSpPr>
        <p:spPr>
          <a:xfrm>
            <a:off x="457200" y="1883664"/>
            <a:ext cx="411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005840" y="1901952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Benchmark Data Collection &amp; Annotation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1005840" y="2139696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 policy docs for 6 companies, generate 2000 queries, 3-annotator protocol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7498080" y="1975104"/>
            <a:ext cx="1005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457200" y="2487168"/>
            <a:ext cx="8229600" cy="53035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57200" y="2487168"/>
            <a:ext cx="411480" cy="530352"/>
          </a:xfrm>
          <a:prstGeom prst="rect">
            <a:avLst/>
          </a:prstGeom>
          <a:solidFill>
            <a:srgbClr val="E63946"/>
          </a:solidFill>
          <a:ln/>
        </p:spPr>
      </p:sp>
      <p:sp>
        <p:nvSpPr>
          <p:cNvPr id="20" name="Text 18"/>
          <p:cNvSpPr/>
          <p:nvPr/>
        </p:nvSpPr>
        <p:spPr>
          <a:xfrm>
            <a:off x="457200" y="2487168"/>
            <a:ext cx="411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1005840" y="2505456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SMT + Semantic Hybrid Integration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1005840" y="274320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Z3 interface, Sentence-BERT pipeline, LLM critic integration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7498080" y="2578608"/>
            <a:ext cx="1005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457200" y="3090672"/>
            <a:ext cx="8229600" cy="53035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57200" y="3090672"/>
            <a:ext cx="411480" cy="530352"/>
          </a:xfrm>
          <a:prstGeom prst="rect">
            <a:avLst/>
          </a:prstGeom>
          <a:solidFill>
            <a:srgbClr val="F4A261"/>
          </a:solidFill>
          <a:ln/>
        </p:spPr>
      </p:sp>
      <p:sp>
        <p:nvSpPr>
          <p:cNvPr id="26" name="Text 24"/>
          <p:cNvSpPr/>
          <p:nvPr/>
        </p:nvSpPr>
        <p:spPr>
          <a:xfrm>
            <a:off x="457200" y="3090672"/>
            <a:ext cx="411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1005840" y="3108960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Runtime Enforcement Pipeline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1005840" y="3346704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Pre/During/Post 3-stage implementation, latency optimization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7498080" y="3182112"/>
            <a:ext cx="1005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457200" y="3694176"/>
            <a:ext cx="8229600" cy="53035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457200" y="3694176"/>
            <a:ext cx="411480" cy="530352"/>
          </a:xfrm>
          <a:prstGeom prst="rect">
            <a:avLst/>
          </a:prstGeom>
          <a:solidFill>
            <a:srgbClr val="F4A261"/>
          </a:solidFill>
          <a:ln/>
        </p:spPr>
      </p:sp>
      <p:sp>
        <p:nvSpPr>
          <p:cNvPr id="32" name="Text 30"/>
          <p:cNvSpPr/>
          <p:nvPr/>
        </p:nvSpPr>
        <p:spPr>
          <a:xfrm>
            <a:off x="457200" y="3694176"/>
            <a:ext cx="411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1005840" y="3712464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Additional Experiments &amp; Ablation Study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1005840" y="395020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combination effects, per-module contribution analysis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7498080" y="3785616"/>
            <a:ext cx="1005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457200" y="4297680"/>
            <a:ext cx="8229600" cy="53035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457200" y="4297680"/>
            <a:ext cx="411480" cy="530352"/>
          </a:xfrm>
          <a:prstGeom prst="rect">
            <a:avLst/>
          </a:prstGeom>
          <a:solidFill>
            <a:srgbClr val="F4A261"/>
          </a:solidFill>
          <a:ln/>
        </p:spPr>
      </p:sp>
      <p:sp>
        <p:nvSpPr>
          <p:cNvPr id="38" name="Text 36"/>
          <p:cNvSpPr/>
          <p:nvPr/>
        </p:nvSpPr>
        <p:spPr>
          <a:xfrm>
            <a:off x="457200" y="4297680"/>
            <a:ext cx="411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</a:t>
            </a:r>
            <a:endParaRPr lang="en-US" sz="1400" dirty="0"/>
          </a:p>
        </p:txBody>
      </p:sp>
      <p:sp>
        <p:nvSpPr>
          <p:cNvPr id="39" name="Text 37"/>
          <p:cNvSpPr/>
          <p:nvPr/>
        </p:nvSpPr>
        <p:spPr>
          <a:xfrm>
            <a:off x="1005840" y="4315968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Paper Finalization &amp; Ethics Review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1005840" y="455371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Strengthen discussion, reproducibility package, ethics review</a:t>
            </a:r>
            <a:endParaRPr lang="en-US" sz="950" dirty="0"/>
          </a:p>
        </p:txBody>
      </p:sp>
      <p:sp>
        <p:nvSpPr>
          <p:cNvPr id="41" name="Text 39"/>
          <p:cNvSpPr/>
          <p:nvPr/>
        </p:nvSpPr>
        <p:spPr>
          <a:xfrm>
            <a:off x="7498080" y="4389120"/>
            <a:ext cx="1005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</a:t>
            </a:r>
            <a:endParaRPr lang="en-US" sz="900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228600"/>
            <a:ext cx="1645920" cy="292608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228600"/>
            <a:ext cx="1645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WORK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6400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Recommended Team Structure: 4-Person Division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20040" y="1280160"/>
            <a:ext cx="2011680" cy="33832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20040" y="1280160"/>
            <a:ext cx="2011680" cy="41148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8" name="Text 6"/>
          <p:cNvSpPr/>
          <p:nvPr/>
        </p:nvSpPr>
        <p:spPr>
          <a:xfrm>
            <a:off x="320040" y="128016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 1: Extraction Lead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411480" y="1828800"/>
            <a:ext cx="182880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Multi-pass extraction pipeline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Metadata tagging system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Implicit policy discovery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(FP-Growth)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Benchmark Part 1 data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collection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Sections: §3.2, §4 Part 1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2514600" y="1280160"/>
            <a:ext cx="2011680" cy="33832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514600" y="1280160"/>
            <a:ext cx="2011680" cy="41148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12" name="Text 10"/>
          <p:cNvSpPr/>
          <p:nvPr/>
        </p:nvSpPr>
        <p:spPr>
          <a:xfrm>
            <a:off x="2514600" y="128016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 2: Verification Lead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2606040" y="1828800"/>
            <a:ext cx="182880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Policy Formalization impl.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Z3 SMT interface dev.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Semantic conflict analysis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integration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Priority resolution logic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Sections: §3.3, §3.4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4709160" y="1280160"/>
            <a:ext cx="2011680" cy="33832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709160" y="1280160"/>
            <a:ext cx="2011680" cy="411480"/>
          </a:xfrm>
          <a:prstGeom prst="rect">
            <a:avLst/>
          </a:prstGeom>
          <a:solidFill>
            <a:srgbClr val="E63946"/>
          </a:solidFill>
          <a:ln/>
        </p:spPr>
      </p:sp>
      <p:sp>
        <p:nvSpPr>
          <p:cNvPr id="16" name="Text 14"/>
          <p:cNvSpPr/>
          <p:nvPr/>
        </p:nvSpPr>
        <p:spPr>
          <a:xfrm>
            <a:off x="4709160" y="128016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 3: Enforcement Lead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4800600" y="1828800"/>
            <a:ext cx="182880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Layer Assignment scoring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Runtime 3-stage pipeline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RAG + DPR integration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Latency optimization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Sections: §3.5, §3.6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6903720" y="1280160"/>
            <a:ext cx="2011680" cy="33832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903720" y="1280160"/>
            <a:ext cx="2011680" cy="411480"/>
          </a:xfrm>
          <a:prstGeom prst="rect">
            <a:avLst/>
          </a:prstGeom>
          <a:solidFill>
            <a:srgbClr val="F4A261"/>
          </a:solidFill>
          <a:ln/>
        </p:spPr>
      </p:sp>
      <p:sp>
        <p:nvSpPr>
          <p:cNvPr id="20" name="Text 18"/>
          <p:cNvSpPr/>
          <p:nvPr/>
        </p:nvSpPr>
        <p:spPr>
          <a:xfrm>
            <a:off x="6903720" y="128016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 4: Evaluation Lead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6995160" y="1828800"/>
            <a:ext cx="182880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Benchmark Part 2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(DecisionsDev)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2000 test query generation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Annotation protocol design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Ablation study &amp; paper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writing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Sections: §4 (all), §5, §6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457200" y="47548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3 people: Merge Person 1 + 4 (Extraction + Evaluation), Person 2 (Verification), Person 3 (Enforcement)</a:t>
            </a:r>
            <a:endParaRPr lang="en-US" sz="1000"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228600"/>
            <a:ext cx="1645920" cy="292608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228600"/>
            <a:ext cx="1645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WORK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6400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Recommended Timeline (8 Weeks)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457200" y="1371600"/>
            <a:ext cx="3291840" cy="7315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57200" y="1371600"/>
            <a:ext cx="54864" cy="73152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8" name="Shape 6"/>
          <p:cNvSpPr/>
          <p:nvPr/>
        </p:nvSpPr>
        <p:spPr>
          <a:xfrm>
            <a:off x="594360" y="1444752"/>
            <a:ext cx="914400" cy="256032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9" name="Text 7"/>
          <p:cNvSpPr/>
          <p:nvPr/>
        </p:nvSpPr>
        <p:spPr>
          <a:xfrm>
            <a:off x="594360" y="1444752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1-2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645920" y="14173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94360" y="173736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collection, extraction pipeline v1, Z3 interface prototype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594360" y="2240280"/>
            <a:ext cx="3108960" cy="7315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594360" y="2240280"/>
            <a:ext cx="54864" cy="73152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14" name="Shape 12"/>
          <p:cNvSpPr/>
          <p:nvPr/>
        </p:nvSpPr>
        <p:spPr>
          <a:xfrm>
            <a:off x="731520" y="2313432"/>
            <a:ext cx="914400" cy="256032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15" name="Text 13"/>
          <p:cNvSpPr/>
          <p:nvPr/>
        </p:nvSpPr>
        <p:spPr>
          <a:xfrm>
            <a:off x="731520" y="2313432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3-4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1783080" y="22860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Modules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731520" y="2606040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Formalization complete, conflict detection integrated, layer assignment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731520" y="3108960"/>
            <a:ext cx="2926080" cy="7315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731520" y="3108960"/>
            <a:ext cx="54864" cy="731520"/>
          </a:xfrm>
          <a:prstGeom prst="rect">
            <a:avLst/>
          </a:prstGeom>
          <a:solidFill>
            <a:srgbClr val="E63946"/>
          </a:solidFill>
          <a:ln/>
        </p:spPr>
      </p:sp>
      <p:sp>
        <p:nvSpPr>
          <p:cNvPr id="20" name="Shape 18"/>
          <p:cNvSpPr/>
          <p:nvPr/>
        </p:nvSpPr>
        <p:spPr>
          <a:xfrm>
            <a:off x="868680" y="3182112"/>
            <a:ext cx="914400" cy="256032"/>
          </a:xfrm>
          <a:prstGeom prst="rect">
            <a:avLst/>
          </a:prstGeom>
          <a:solidFill>
            <a:srgbClr val="E63946"/>
          </a:solidFill>
          <a:ln/>
        </p:spPr>
      </p:sp>
      <p:sp>
        <p:nvSpPr>
          <p:cNvPr id="21" name="Text 19"/>
          <p:cNvSpPr/>
          <p:nvPr/>
        </p:nvSpPr>
        <p:spPr>
          <a:xfrm>
            <a:off x="868680" y="3182112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5-6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920240" y="315468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Integration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868680" y="3474720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Runtime enforcement impl., end-to-end pipeline integration, initial experiments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868680" y="3977640"/>
            <a:ext cx="2743200" cy="7315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868680" y="3977640"/>
            <a:ext cx="54864" cy="731520"/>
          </a:xfrm>
          <a:prstGeom prst="rect">
            <a:avLst/>
          </a:prstGeom>
          <a:solidFill>
            <a:srgbClr val="F4A261"/>
          </a:solidFill>
          <a:ln/>
        </p:spPr>
      </p:sp>
      <p:sp>
        <p:nvSpPr>
          <p:cNvPr id="26" name="Shape 24"/>
          <p:cNvSpPr/>
          <p:nvPr/>
        </p:nvSpPr>
        <p:spPr>
          <a:xfrm>
            <a:off x="1005840" y="4050792"/>
            <a:ext cx="914400" cy="256032"/>
          </a:xfrm>
          <a:prstGeom prst="rect">
            <a:avLst/>
          </a:prstGeom>
          <a:solidFill>
            <a:srgbClr val="F4A261"/>
          </a:solidFill>
          <a:ln/>
        </p:spPr>
      </p:sp>
      <p:sp>
        <p:nvSpPr>
          <p:cNvPr id="27" name="Text 25"/>
          <p:cNvSpPr/>
          <p:nvPr/>
        </p:nvSpPr>
        <p:spPr>
          <a:xfrm>
            <a:off x="1005840" y="4050792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7-8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2057400" y="40233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1005840" y="434340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experiments, ablation studies, finalize paper numbers, submission prep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457200" y="4114800"/>
            <a:ext cx="8229600" cy="731520"/>
          </a:xfrm>
          <a:prstGeom prst="rect">
            <a:avLst/>
          </a:prstGeom>
          <a:solidFill>
            <a:srgbClr val="FFF8E1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640080" y="4142232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Milestones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640080" y="438912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W2: Extraction F1 &gt; 80%  |  W4: Hybrid conflict F1 &gt; 75%  |  W6: E2E compliance &gt; 90%  |  W8: Paper submission ready</a:t>
            </a:r>
            <a:endParaRPr lang="en-US" sz="1000" dirty="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937760"/>
            <a:ext cx="9144000" cy="205740"/>
          </a:xfrm>
          <a:prstGeom prst="rect">
            <a:avLst/>
          </a:prstGeom>
          <a:solidFill>
            <a:srgbClr val="1C7293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548640"/>
            <a:ext cx="548640" cy="54864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40080" y="118872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Conclusion</a:t>
            </a:r>
            <a:endParaRPr lang="en-US" sz="3400" dirty="0"/>
          </a:p>
        </p:txBody>
      </p:sp>
      <p:sp>
        <p:nvSpPr>
          <p:cNvPr id="6" name="Text 3"/>
          <p:cNvSpPr/>
          <p:nvPr/>
        </p:nvSpPr>
        <p:spPr>
          <a:xfrm>
            <a:off x="640080" y="201168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PolicyLLM = </a:t>
            </a:r>
            <a:pPr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Extraction + Formalization + Conflict Detection + Layer Assignment + Runtime Enforcement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640080" y="292608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message: Without extraction there is no metadata, and without metadata there is no governance.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640080" y="347472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F4A2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"Extraction without metadata enables detection but not governance."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640080" y="420624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Thank You — Questions?</a:t>
            </a:r>
            <a:endParaRPr lang="en-US" sz="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45</Slides>
  <Notes>45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45</vt:i4>
      </vt:variant>
    </vt:vector>
  </HeadingPairs>
  <TitlesOfParts>
    <vt:vector size="4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PolicyLLM: Beyond Guardrails</dc:title>
  <dc:subject>PptxGenJS Presentation</dc:subject>
  <dc:creator>PolicyLLM Team</dc:creator>
  <cp:lastModifiedBy>PolicyLLM Team</cp:lastModifiedBy>
  <cp:revision>1</cp:revision>
  <dcterms:created xsi:type="dcterms:W3CDTF">2026-02-06T01:31:24Z</dcterms:created>
  <dcterms:modified xsi:type="dcterms:W3CDTF">2026-02-06T01:31:24Z</dcterms:modified>
</cp:coreProperties>
</file>